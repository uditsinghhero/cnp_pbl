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58"/>
  </p:normalViewPr>
  <p:slideViewPr>
    <p:cSldViewPr snapToGrid="0">
      <p:cViewPr>
        <p:scale>
          <a:sx n="100" d="100"/>
          <a:sy n="100" d="100"/>
        </p:scale>
        <p:origin x="43" y="-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02497E79-76EF-4A90-809A-F58D985FE52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11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56336BC2-226A-44B8-B434-01442B7072A6}"/>
              </a:ext>
            </a:extLst>
          </p:cNvPr>
          <p:cNvSpPr>
            <a:spLocks noGrp="1"/>
          </p:cNvSpPr>
          <p:nvPr/>
        </p:nvSpPr>
        <p:spPr>
          <a:xfrm>
            <a:off x="533400" y="400050"/>
            <a:ext cx="95250" cy="95250"/>
          </a:xfrm>
          <a:prstGeom prst="rect">
            <a:avLst/>
          </a:prstGeom>
          <a:solidFill>
            <a:srgbClr val="B7F1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8C7EDF29-0E13-44EB-AC5C-AEB79674231B}"/>
              </a:ext>
            </a:extLst>
          </p:cNvPr>
          <p:cNvSpPr>
            <a:spLocks noGrp="1"/>
          </p:cNvSpPr>
          <p:nvPr/>
        </p:nvSpPr>
        <p:spPr>
          <a:xfrm>
            <a:off x="723900" y="333375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B7F16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7F16A"/>
                </a:solidFill>
                <a:latin typeface="Aptos"/>
                <a:ea typeface="Aptos"/>
                <a:cs typeface="Aptos"/>
              </a:rPr>
              <a:t>QUALITY BASED VIDEO STREAMING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248D233-84FE-4195-AA52-20FF89734EBE}"/>
              </a:ext>
            </a:extLst>
          </p:cNvPr>
          <p:cNvSpPr>
            <a:spLocks noGrp="1"/>
          </p:cNvSpPr>
          <p:nvPr/>
        </p:nvSpPr>
        <p:spPr>
          <a:xfrm>
            <a:off x="514350" y="990600"/>
            <a:ext cx="7239000" cy="1428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750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rPr>
              <a:t>AI-Driven Adaptive DASH Streaming for Enhanced Video QoS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1A807A-A5BE-4D7A-8187-88F1118C3C99}"/>
              </a:ext>
            </a:extLst>
          </p:cNvPr>
          <p:cNvSpPr>
            <a:spLocks noGrp="1"/>
          </p:cNvSpPr>
          <p:nvPr/>
        </p:nvSpPr>
        <p:spPr>
          <a:xfrm>
            <a:off x="552450" y="2571750"/>
            <a:ext cx="64770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8EA3B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8EA3B8"/>
                </a:solidFill>
                <a:latin typeface="Aptos"/>
                <a:ea typeface="Aptos"/>
                <a:cs typeface="Aptos"/>
              </a:rPr>
              <a:t>A real MPEG-DASH demo where browser QoS telemetry feeds a Random Forest bitrate controller, applies video quality through dash.js, and logs evidence for analysis.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849F03A-0B80-4C5B-A515-241E51C7A090}"/>
              </a:ext>
            </a:extLst>
          </p:cNvPr>
          <p:cNvSpPr>
            <a:spLocks noGrp="1"/>
          </p:cNvSpPr>
          <p:nvPr/>
        </p:nvSpPr>
        <p:spPr>
          <a:xfrm>
            <a:off x="552450" y="3886200"/>
            <a:ext cx="2095500" cy="876300"/>
          </a:xfrm>
          <a:prstGeom prst="rect">
            <a:avLst/>
          </a:prstGeom>
          <a:solidFill>
            <a:srgbClr val="0F2032"/>
          </a:solidFill>
          <a:ln w="9525">
            <a:solidFill>
              <a:srgbClr val="FFD166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3DD4BA-2386-4778-A381-FFA4BF299C2E}"/>
              </a:ext>
            </a:extLst>
          </p:cNvPr>
          <p:cNvSpPr>
            <a:spLocks noGrp="1"/>
          </p:cNvSpPr>
          <p:nvPr/>
        </p:nvSpPr>
        <p:spPr>
          <a:xfrm>
            <a:off x="723900" y="3981450"/>
            <a:ext cx="17526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FFD166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D166"/>
                </a:solidFill>
                <a:latin typeface="Aptos Display"/>
                <a:ea typeface="Aptos Display"/>
                <a:cs typeface="Aptos Display"/>
              </a:rPr>
              <a:t>177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B697E4D-1583-46D9-BFCB-AD0796D04C67}"/>
              </a:ext>
            </a:extLst>
          </p:cNvPr>
          <p:cNvSpPr>
            <a:spLocks noGrp="1"/>
          </p:cNvSpPr>
          <p:nvPr/>
        </p:nvSpPr>
        <p:spPr>
          <a:xfrm>
            <a:off x="723900" y="4371975"/>
            <a:ext cx="1752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8E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EA3B8"/>
                </a:solidFill>
                <a:latin typeface="Aptos"/>
                <a:ea typeface="Aptos"/>
                <a:cs typeface="Aptos"/>
              </a:rPr>
              <a:t>logged playback samples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C4DED9-18FC-4BF2-B38B-1680019A7774}"/>
              </a:ext>
            </a:extLst>
          </p:cNvPr>
          <p:cNvSpPr>
            <a:spLocks noGrp="1"/>
          </p:cNvSpPr>
          <p:nvPr/>
        </p:nvSpPr>
        <p:spPr>
          <a:xfrm>
            <a:off x="2914650" y="3886200"/>
            <a:ext cx="2095500" cy="876300"/>
          </a:xfrm>
          <a:prstGeom prst="rect">
            <a:avLst/>
          </a:prstGeom>
          <a:solidFill>
            <a:srgbClr val="0F2032"/>
          </a:solidFill>
          <a:ln w="9525">
            <a:solidFill>
              <a:srgbClr val="36D1DC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D57F8E1-A897-4A6C-A8CD-8594105D2F6A}"/>
              </a:ext>
            </a:extLst>
          </p:cNvPr>
          <p:cNvSpPr>
            <a:spLocks noGrp="1"/>
          </p:cNvSpPr>
          <p:nvPr/>
        </p:nvSpPr>
        <p:spPr>
          <a:xfrm>
            <a:off x="3086100" y="3981450"/>
            <a:ext cx="17526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36D1DC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36D1DC"/>
                </a:solidFill>
                <a:latin typeface="Aptos Display"/>
                <a:ea typeface="Aptos Display"/>
                <a:cs typeface="Aptos Display"/>
              </a:rPr>
              <a:t>0.882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D3B7C8-4569-4657-98D8-6B8817DA0345}"/>
              </a:ext>
            </a:extLst>
          </p:cNvPr>
          <p:cNvSpPr>
            <a:spLocks noGrp="1"/>
          </p:cNvSpPr>
          <p:nvPr/>
        </p:nvSpPr>
        <p:spPr>
          <a:xfrm>
            <a:off x="3086100" y="4371975"/>
            <a:ext cx="1752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8E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EA3B8"/>
                </a:solidFill>
                <a:latin typeface="Aptos"/>
                <a:ea typeface="Aptos"/>
                <a:cs typeface="Aptos"/>
              </a:rPr>
              <a:t>average AI confidence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AD8ABCE-EEF1-42DE-9B68-06C72E09D6E0}"/>
              </a:ext>
            </a:extLst>
          </p:cNvPr>
          <p:cNvSpPr>
            <a:spLocks noGrp="1"/>
          </p:cNvSpPr>
          <p:nvPr/>
        </p:nvSpPr>
        <p:spPr>
          <a:xfrm>
            <a:off x="5276850" y="3886200"/>
            <a:ext cx="2095500" cy="876300"/>
          </a:xfrm>
          <a:prstGeom prst="rect">
            <a:avLst/>
          </a:prstGeom>
          <a:solidFill>
            <a:srgbClr val="0F2032"/>
          </a:solidFill>
          <a:ln w="9525">
            <a:solidFill>
              <a:srgbClr val="FF6B5F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B6A8ECD-F1C2-4CDB-8A67-1D8CA631B1DE}"/>
              </a:ext>
            </a:extLst>
          </p:cNvPr>
          <p:cNvSpPr>
            <a:spLocks noGrp="1"/>
          </p:cNvSpPr>
          <p:nvPr/>
        </p:nvSpPr>
        <p:spPr>
          <a:xfrm>
            <a:off x="5448300" y="3981450"/>
            <a:ext cx="17526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FF6B5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6B5F"/>
                </a:solidFill>
                <a:latin typeface="Aptos Display"/>
                <a:ea typeface="Aptos Display"/>
                <a:cs typeface="Aptos Display"/>
              </a:rPr>
              <a:t>12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5107EB5-AE0F-433E-9EFF-89CB8AA129BD}"/>
              </a:ext>
            </a:extLst>
          </p:cNvPr>
          <p:cNvSpPr>
            <a:spLocks noGrp="1"/>
          </p:cNvSpPr>
          <p:nvPr/>
        </p:nvSpPr>
        <p:spPr>
          <a:xfrm>
            <a:off x="5448300" y="4371975"/>
            <a:ext cx="1752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8E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EA3B8"/>
                </a:solidFill>
                <a:latin typeface="Aptos"/>
                <a:ea typeface="Aptos"/>
                <a:cs typeface="Aptos"/>
              </a:rPr>
              <a:t>quality switches recorded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055F403-C4D6-4DCD-863C-00601C6824A3}"/>
              </a:ext>
            </a:extLst>
          </p:cNvPr>
          <p:cNvSpPr>
            <a:spLocks noGrp="1"/>
          </p:cNvSpPr>
          <p:nvPr/>
        </p:nvSpPr>
        <p:spPr>
          <a:xfrm>
            <a:off x="8382000" y="1085850"/>
            <a:ext cx="2667000" cy="3714750"/>
          </a:xfrm>
          <a:prstGeom prst="rect">
            <a:avLst/>
          </a:prstGeom>
          <a:solidFill>
            <a:srgbClr val="0E1E30"/>
          </a:solidFill>
          <a:ln w="9525">
            <a:solidFill>
              <a:srgbClr val="36D1DC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CB41216-A962-4247-A0E9-30105AFD7901}"/>
              </a:ext>
            </a:extLst>
          </p:cNvPr>
          <p:cNvSpPr>
            <a:spLocks noGrp="1"/>
          </p:cNvSpPr>
          <p:nvPr/>
        </p:nvSpPr>
        <p:spPr>
          <a:xfrm>
            <a:off x="8820150" y="1543050"/>
            <a:ext cx="819150" cy="552450"/>
          </a:xfrm>
          <a:prstGeom prst="rect">
            <a:avLst/>
          </a:prstGeom>
          <a:solidFill>
            <a:srgbClr val="152A41"/>
          </a:solidFill>
          <a:ln w="9525">
            <a:solidFill>
              <a:srgbClr val="8EA3B8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83F2B9E-15A8-4855-87F6-09DF6B1DDAA0}"/>
              </a:ext>
            </a:extLst>
          </p:cNvPr>
          <p:cNvSpPr>
            <a:spLocks noGrp="1"/>
          </p:cNvSpPr>
          <p:nvPr/>
        </p:nvSpPr>
        <p:spPr>
          <a:xfrm>
            <a:off x="8820150" y="1695450"/>
            <a:ext cx="819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2EA"/>
                </a:solidFill>
                <a:latin typeface="Aptos"/>
                <a:ea typeface="Aptos"/>
                <a:cs typeface="Aptos"/>
              </a:rPr>
              <a:t>Video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CE340F5-2347-47F8-BA17-D62B5D7C7350}"/>
              </a:ext>
            </a:extLst>
          </p:cNvPr>
          <p:cNvSpPr>
            <a:spLocks noGrp="1"/>
          </p:cNvSpPr>
          <p:nvPr/>
        </p:nvSpPr>
        <p:spPr>
          <a:xfrm>
            <a:off x="9886950" y="1543050"/>
            <a:ext cx="819150" cy="552450"/>
          </a:xfrm>
          <a:prstGeom prst="rect">
            <a:avLst/>
          </a:prstGeom>
          <a:solidFill>
            <a:srgbClr val="152A41"/>
          </a:solidFill>
          <a:ln w="9525">
            <a:solidFill>
              <a:srgbClr val="8EA3B8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A4F8303-7F2A-4185-A415-F270C17EC61B}"/>
              </a:ext>
            </a:extLst>
          </p:cNvPr>
          <p:cNvSpPr>
            <a:spLocks noGrp="1"/>
          </p:cNvSpPr>
          <p:nvPr/>
        </p:nvSpPr>
        <p:spPr>
          <a:xfrm>
            <a:off x="9886950" y="1695450"/>
            <a:ext cx="819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2EA"/>
                </a:solidFill>
                <a:latin typeface="Aptos"/>
                <a:ea typeface="Aptos"/>
                <a:cs typeface="Aptos"/>
              </a:rPr>
              <a:t>DASH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F8965A6-6583-4331-A11E-F7CBB2667A4D}"/>
              </a:ext>
            </a:extLst>
          </p:cNvPr>
          <p:cNvSpPr>
            <a:spLocks noGrp="1"/>
          </p:cNvSpPr>
          <p:nvPr/>
        </p:nvSpPr>
        <p:spPr>
          <a:xfrm>
            <a:off x="8820150" y="2552700"/>
            <a:ext cx="819150" cy="552450"/>
          </a:xfrm>
          <a:prstGeom prst="rect">
            <a:avLst/>
          </a:prstGeom>
          <a:solidFill>
            <a:srgbClr val="152A41"/>
          </a:solidFill>
          <a:ln w="9525">
            <a:solidFill>
              <a:srgbClr val="8EA3B8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5D68436-1A3E-455A-8628-BF3717E69AA5}"/>
              </a:ext>
            </a:extLst>
          </p:cNvPr>
          <p:cNvSpPr>
            <a:spLocks noGrp="1"/>
          </p:cNvSpPr>
          <p:nvPr/>
        </p:nvSpPr>
        <p:spPr>
          <a:xfrm>
            <a:off x="8820150" y="2705100"/>
            <a:ext cx="819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2EA"/>
                </a:solidFill>
                <a:latin typeface="Aptos"/>
                <a:ea typeface="Aptos"/>
                <a:cs typeface="Aptos"/>
              </a:rPr>
              <a:t>QoS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B0FAC74-1B18-4324-AA9A-04266A2BB075}"/>
              </a:ext>
            </a:extLst>
          </p:cNvPr>
          <p:cNvSpPr>
            <a:spLocks noGrp="1"/>
          </p:cNvSpPr>
          <p:nvPr/>
        </p:nvSpPr>
        <p:spPr>
          <a:xfrm>
            <a:off x="9886950" y="2552700"/>
            <a:ext cx="819150" cy="552450"/>
          </a:xfrm>
          <a:prstGeom prst="rect">
            <a:avLst/>
          </a:prstGeom>
          <a:solidFill>
            <a:srgbClr val="B7F16A"/>
          </a:solidFill>
          <a:ln w="9525">
            <a:solidFill>
              <a:srgbClr val="B7F16A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6EEEF52-622C-411B-A10D-E0A2CA2B39F5}"/>
              </a:ext>
            </a:extLst>
          </p:cNvPr>
          <p:cNvSpPr>
            <a:spLocks noGrp="1"/>
          </p:cNvSpPr>
          <p:nvPr/>
        </p:nvSpPr>
        <p:spPr>
          <a:xfrm>
            <a:off x="9886950" y="2705100"/>
            <a:ext cx="819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AI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5F8A1A5-FB90-4F34-80AB-98D65C4B2DF6}"/>
              </a:ext>
            </a:extLst>
          </p:cNvPr>
          <p:cNvSpPr>
            <a:spLocks noGrp="1"/>
          </p:cNvSpPr>
          <p:nvPr/>
        </p:nvSpPr>
        <p:spPr>
          <a:xfrm>
            <a:off x="8820150" y="3562350"/>
            <a:ext cx="819150" cy="552450"/>
          </a:xfrm>
          <a:prstGeom prst="rect">
            <a:avLst/>
          </a:prstGeom>
          <a:solidFill>
            <a:srgbClr val="152A41"/>
          </a:solidFill>
          <a:ln w="9525">
            <a:solidFill>
              <a:srgbClr val="8EA3B8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4076E31-C4C9-4030-B26C-7E68F418795E}"/>
              </a:ext>
            </a:extLst>
          </p:cNvPr>
          <p:cNvSpPr>
            <a:spLocks noGrp="1"/>
          </p:cNvSpPr>
          <p:nvPr/>
        </p:nvSpPr>
        <p:spPr>
          <a:xfrm>
            <a:off x="8820150" y="3714750"/>
            <a:ext cx="819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2EA"/>
                </a:solidFill>
                <a:latin typeface="Aptos"/>
                <a:ea typeface="Aptos"/>
                <a:cs typeface="Aptos"/>
              </a:rPr>
              <a:t>Player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7C0E26E-3B36-43DB-9C99-4A97D10E740E}"/>
              </a:ext>
            </a:extLst>
          </p:cNvPr>
          <p:cNvSpPr>
            <a:spLocks noGrp="1"/>
          </p:cNvSpPr>
          <p:nvPr/>
        </p:nvSpPr>
        <p:spPr>
          <a:xfrm>
            <a:off x="8420100" y="5067300"/>
            <a:ext cx="2952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8EA3B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8EA3B8"/>
                </a:solidFill>
                <a:latin typeface="Aptos"/>
                <a:ea typeface="Aptos"/>
                <a:cs typeface="Aptos"/>
              </a:rPr>
              <a:t>Project stack: FFmpeg + Flask + dash.js + Scikit-learn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EA36892-E6CF-421D-993A-3E34F4222B93}"/>
              </a:ext>
            </a:extLst>
          </p:cNvPr>
          <p:cNvSpPr>
            <a:spLocks noGrp="1"/>
          </p:cNvSpPr>
          <p:nvPr/>
        </p:nvSpPr>
        <p:spPr>
          <a:xfrm>
            <a:off x="514350" y="6438900"/>
            <a:ext cx="723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E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EA3B8"/>
                </a:solidFill>
                <a:latin typeface="Aptos"/>
                <a:ea typeface="Aptos"/>
                <a:cs typeface="Aptos"/>
              </a:rPr>
              <a:t>Source: README.md, results/qos_summary.csv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F4EEBD4-AFF0-4110-9865-396460205742}"/>
              </a:ext>
            </a:extLst>
          </p:cNvPr>
          <p:cNvSpPr>
            <a:spLocks noGrp="1"/>
          </p:cNvSpPr>
          <p:nvPr/>
        </p:nvSpPr>
        <p:spPr>
          <a:xfrm>
            <a:off x="11163300" y="6438900"/>
            <a:ext cx="514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8EA3B8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8EA3B8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703338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FCF6FA3B-0C1B-4FA9-B8E8-571E726532D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11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7F276DF3-C067-481E-BAC6-911285B1157A}"/>
              </a:ext>
            </a:extLst>
          </p:cNvPr>
          <p:cNvSpPr>
            <a:spLocks noGrp="1"/>
          </p:cNvSpPr>
          <p:nvPr/>
        </p:nvSpPr>
        <p:spPr>
          <a:xfrm>
            <a:off x="533400" y="400050"/>
            <a:ext cx="95250" cy="95250"/>
          </a:xfrm>
          <a:prstGeom prst="rect">
            <a:avLst/>
          </a:prstGeom>
          <a:solidFill>
            <a:srgbClr val="FF6B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0BBB830E-0D8F-4832-AFA2-AFC9EC01A60F}"/>
              </a:ext>
            </a:extLst>
          </p:cNvPr>
          <p:cNvSpPr>
            <a:spLocks noGrp="1"/>
          </p:cNvSpPr>
          <p:nvPr/>
        </p:nvSpPr>
        <p:spPr>
          <a:xfrm>
            <a:off x="723900" y="333375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FF6B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6B5F"/>
                </a:solidFill>
                <a:latin typeface="Aptos"/>
                <a:ea typeface="Aptos"/>
                <a:cs typeface="Aptos"/>
              </a:rPr>
              <a:t>STREAMING PROBLEM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647467-073E-4496-8D5F-F394E3EEE1EB}"/>
              </a:ext>
            </a:extLst>
          </p:cNvPr>
          <p:cNvSpPr>
            <a:spLocks noGrp="1"/>
          </p:cNvSpPr>
          <p:nvPr/>
        </p:nvSpPr>
        <p:spPr>
          <a:xfrm>
            <a:off x="514350" y="723900"/>
            <a:ext cx="781050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rPr>
              <a:t>Quality drops happen before a player can explain them.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81CCF0C-5C48-46D0-96D0-2C104663AF45}"/>
              </a:ext>
            </a:extLst>
          </p:cNvPr>
          <p:cNvSpPr>
            <a:spLocks noGrp="1"/>
          </p:cNvSpPr>
          <p:nvPr/>
        </p:nvSpPr>
        <p:spPr>
          <a:xfrm>
            <a:off x="552450" y="1847850"/>
            <a:ext cx="6858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8EA3B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8EA3B8"/>
                </a:solidFill>
                <a:latin typeface="Aptos"/>
                <a:ea typeface="Aptos"/>
                <a:cs typeface="Aptos"/>
              </a:rPr>
              <a:t>The controller watches multiple QoS signals together instead of trusting bandwidth alone.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DEAB386-E420-4FD5-AED8-7B219CCEA237}"/>
              </a:ext>
            </a:extLst>
          </p:cNvPr>
          <p:cNvSpPr>
            <a:spLocks noGrp="1"/>
          </p:cNvSpPr>
          <p:nvPr/>
        </p:nvSpPr>
        <p:spPr>
          <a:xfrm>
            <a:off x="723900" y="2857500"/>
            <a:ext cx="4191000" cy="876300"/>
          </a:xfrm>
          <a:prstGeom prst="rect">
            <a:avLst/>
          </a:prstGeom>
          <a:solidFill>
            <a:srgbClr val="102236"/>
          </a:solidFill>
          <a:ln w="9525">
            <a:solidFill>
              <a:srgbClr val="FF6B5F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E067481-DA69-4EEA-886A-BF428E23A9FA}"/>
              </a:ext>
            </a:extLst>
          </p:cNvPr>
          <p:cNvSpPr>
            <a:spLocks noGrp="1"/>
          </p:cNvSpPr>
          <p:nvPr/>
        </p:nvSpPr>
        <p:spPr>
          <a:xfrm>
            <a:off x="933450" y="3028950"/>
            <a:ext cx="209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F6B5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6B5F"/>
                </a:solidFill>
                <a:latin typeface="Aptos Display"/>
                <a:ea typeface="Aptos Display"/>
                <a:cs typeface="Aptos Display"/>
              </a:rPr>
              <a:t>Low throughput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AFB3641-F964-439E-A476-3B6E7316C5F6}"/>
              </a:ext>
            </a:extLst>
          </p:cNvPr>
          <p:cNvSpPr>
            <a:spLocks noGrp="1"/>
          </p:cNvSpPr>
          <p:nvPr/>
        </p:nvSpPr>
        <p:spPr>
          <a:xfrm>
            <a:off x="933450" y="3362325"/>
            <a:ext cx="3143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6F2EA"/>
                </a:solidFill>
                <a:latin typeface="Aptos"/>
                <a:ea typeface="Aptos"/>
                <a:cs typeface="Aptos"/>
              </a:rPr>
              <a:t>higher rebuffer risk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9A7090E-E3A7-488B-ADED-15B580912559}"/>
              </a:ext>
            </a:extLst>
          </p:cNvPr>
          <p:cNvSpPr>
            <a:spLocks noGrp="1"/>
          </p:cNvSpPr>
          <p:nvPr/>
        </p:nvSpPr>
        <p:spPr>
          <a:xfrm>
            <a:off x="5676900" y="2857500"/>
            <a:ext cx="4191000" cy="876300"/>
          </a:xfrm>
          <a:prstGeom prst="rect">
            <a:avLst/>
          </a:prstGeom>
          <a:solidFill>
            <a:srgbClr val="102236"/>
          </a:solidFill>
          <a:ln w="9525">
            <a:solidFill>
              <a:srgbClr val="FFD166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E3EF047-1CE1-4295-9666-37720D1EDC02}"/>
              </a:ext>
            </a:extLst>
          </p:cNvPr>
          <p:cNvSpPr>
            <a:spLocks noGrp="1"/>
          </p:cNvSpPr>
          <p:nvPr/>
        </p:nvSpPr>
        <p:spPr>
          <a:xfrm>
            <a:off x="5886450" y="3028950"/>
            <a:ext cx="209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FD166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D166"/>
                </a:solidFill>
                <a:latin typeface="Aptos Display"/>
                <a:ea typeface="Aptos Display"/>
                <a:cs typeface="Aptos Display"/>
              </a:rPr>
              <a:t>Low buffer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9C76454-5FFB-40C5-8228-0F37ECFD1FAF}"/>
              </a:ext>
            </a:extLst>
          </p:cNvPr>
          <p:cNvSpPr>
            <a:spLocks noGrp="1"/>
          </p:cNvSpPr>
          <p:nvPr/>
        </p:nvSpPr>
        <p:spPr>
          <a:xfrm>
            <a:off x="5886450" y="3362325"/>
            <a:ext cx="3143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6F2EA"/>
                </a:solidFill>
                <a:latin typeface="Aptos"/>
                <a:ea typeface="Aptos"/>
                <a:cs typeface="Aptos"/>
              </a:rPr>
              <a:t>quality must step down early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6BAC941-D37A-49F0-83EF-40B6A6849955}"/>
              </a:ext>
            </a:extLst>
          </p:cNvPr>
          <p:cNvSpPr>
            <a:spLocks noGrp="1"/>
          </p:cNvSpPr>
          <p:nvPr/>
        </p:nvSpPr>
        <p:spPr>
          <a:xfrm>
            <a:off x="723900" y="4114800"/>
            <a:ext cx="4191000" cy="876300"/>
          </a:xfrm>
          <a:prstGeom prst="rect">
            <a:avLst/>
          </a:prstGeom>
          <a:solidFill>
            <a:srgbClr val="102236"/>
          </a:solidFill>
          <a:ln w="9525">
            <a:solidFill>
              <a:srgbClr val="36D1DC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8082E54-E039-41C0-B298-400EDCB84FC6}"/>
              </a:ext>
            </a:extLst>
          </p:cNvPr>
          <p:cNvSpPr>
            <a:spLocks noGrp="1"/>
          </p:cNvSpPr>
          <p:nvPr/>
        </p:nvSpPr>
        <p:spPr>
          <a:xfrm>
            <a:off x="933450" y="4286250"/>
            <a:ext cx="209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36D1DC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36D1DC"/>
                </a:solidFill>
                <a:latin typeface="Aptos Display"/>
                <a:ea typeface="Aptos Display"/>
                <a:cs typeface="Aptos Display"/>
              </a:rPr>
              <a:t>High RTT + jitter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E082CFE-09FB-477F-89CA-35B29BD123CE}"/>
              </a:ext>
            </a:extLst>
          </p:cNvPr>
          <p:cNvSpPr>
            <a:spLocks noGrp="1"/>
          </p:cNvSpPr>
          <p:nvPr/>
        </p:nvSpPr>
        <p:spPr>
          <a:xfrm>
            <a:off x="933450" y="4619625"/>
            <a:ext cx="3143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6F2EA"/>
                </a:solidFill>
                <a:latin typeface="Aptos"/>
                <a:ea typeface="Aptos"/>
                <a:cs typeface="Aptos"/>
              </a:rPr>
              <a:t>late segment arrival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2A4DAA0-18F3-499F-835D-E975ED014AF2}"/>
              </a:ext>
            </a:extLst>
          </p:cNvPr>
          <p:cNvSpPr>
            <a:spLocks noGrp="1"/>
          </p:cNvSpPr>
          <p:nvPr/>
        </p:nvSpPr>
        <p:spPr>
          <a:xfrm>
            <a:off x="5676900" y="4114800"/>
            <a:ext cx="4191000" cy="876300"/>
          </a:xfrm>
          <a:prstGeom prst="rect">
            <a:avLst/>
          </a:prstGeom>
          <a:solidFill>
            <a:srgbClr val="102236"/>
          </a:solidFill>
          <a:ln w="9525">
            <a:solidFill>
              <a:srgbClr val="B7F16A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B493898-C1F3-4C92-ADEC-BE69297D358D}"/>
              </a:ext>
            </a:extLst>
          </p:cNvPr>
          <p:cNvSpPr>
            <a:spLocks noGrp="1"/>
          </p:cNvSpPr>
          <p:nvPr/>
        </p:nvSpPr>
        <p:spPr>
          <a:xfrm>
            <a:off x="5886450" y="4286250"/>
            <a:ext cx="209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B7F16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B7F16A"/>
                </a:solidFill>
                <a:latin typeface="Aptos Display"/>
                <a:ea typeface="Aptos Display"/>
                <a:cs typeface="Aptos Display"/>
              </a:rPr>
              <a:t>Packet loss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B51F20C-14AC-4E81-8EF2-C86BB777FDFC}"/>
              </a:ext>
            </a:extLst>
          </p:cNvPr>
          <p:cNvSpPr>
            <a:spLocks noGrp="1"/>
          </p:cNvSpPr>
          <p:nvPr/>
        </p:nvSpPr>
        <p:spPr>
          <a:xfrm>
            <a:off x="5886450" y="4619625"/>
            <a:ext cx="3143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6F2EA"/>
                </a:solidFill>
                <a:latin typeface="Aptos"/>
                <a:ea typeface="Aptos"/>
                <a:cs typeface="Aptos"/>
              </a:rPr>
              <a:t>capacity estimate becomes unsafe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B24EF39-2422-40A4-9C72-BD95FDA8B934}"/>
              </a:ext>
            </a:extLst>
          </p:cNvPr>
          <p:cNvSpPr>
            <a:spLocks noGrp="1"/>
          </p:cNvSpPr>
          <p:nvPr/>
        </p:nvSpPr>
        <p:spPr>
          <a:xfrm>
            <a:off x="8172450" y="1543050"/>
            <a:ext cx="3048000" cy="819150"/>
          </a:xfrm>
          <a:prstGeom prst="rect">
            <a:avLst/>
          </a:prstGeom>
          <a:solidFill>
            <a:srgbClr val="0F2032"/>
          </a:solidFill>
          <a:ln w="9525">
            <a:solidFill>
              <a:srgbClr val="8EA3B8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32E582C-0C14-4369-8EF3-798D79AD7072}"/>
              </a:ext>
            </a:extLst>
          </p:cNvPr>
          <p:cNvSpPr>
            <a:spLocks noGrp="1"/>
          </p:cNvSpPr>
          <p:nvPr/>
        </p:nvSpPr>
        <p:spPr>
          <a:xfrm>
            <a:off x="8420100" y="1752600"/>
            <a:ext cx="25527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650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rPr>
              <a:t>QoS signals must become a quality decision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406474C-D29F-4927-A6E8-95E16F6E3451}"/>
              </a:ext>
            </a:extLst>
          </p:cNvPr>
          <p:cNvSpPr>
            <a:spLocks noGrp="1"/>
          </p:cNvSpPr>
          <p:nvPr/>
        </p:nvSpPr>
        <p:spPr>
          <a:xfrm>
            <a:off x="514350" y="6438900"/>
            <a:ext cx="723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E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EA3B8"/>
                </a:solidFill>
                <a:latin typeface="Aptos"/>
                <a:ea typeface="Aptos"/>
                <a:cs typeface="Aptos"/>
              </a:rPr>
              <a:t>Source: ai_model.py feature set and player.js telemetry loop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B13CE60-B5A9-4046-ACC8-1E70F209D4E3}"/>
              </a:ext>
            </a:extLst>
          </p:cNvPr>
          <p:cNvSpPr>
            <a:spLocks noGrp="1"/>
          </p:cNvSpPr>
          <p:nvPr/>
        </p:nvSpPr>
        <p:spPr>
          <a:xfrm>
            <a:off x="11163300" y="6438900"/>
            <a:ext cx="514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8EA3B8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8EA3B8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145715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0303B470-66B5-40F5-B6A4-7EF81F00D5C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11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FF7AEC47-3BCC-4434-ADBE-6E534125C6F7}"/>
              </a:ext>
            </a:extLst>
          </p:cNvPr>
          <p:cNvSpPr>
            <a:spLocks noGrp="1"/>
          </p:cNvSpPr>
          <p:nvPr/>
        </p:nvSpPr>
        <p:spPr>
          <a:xfrm>
            <a:off x="533400" y="400050"/>
            <a:ext cx="95250" cy="95250"/>
          </a:xfrm>
          <a:prstGeom prst="rect">
            <a:avLst/>
          </a:prstGeom>
          <a:solidFill>
            <a:srgbClr val="36D1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9C4F4BEB-9CB9-4FEC-8033-BD925C8F8829}"/>
              </a:ext>
            </a:extLst>
          </p:cNvPr>
          <p:cNvSpPr>
            <a:spLocks noGrp="1"/>
          </p:cNvSpPr>
          <p:nvPr/>
        </p:nvSpPr>
        <p:spPr>
          <a:xfrm>
            <a:off x="723900" y="333375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36D1D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6D1DC"/>
                </a:solidFill>
                <a:latin typeface="Aptos"/>
                <a:ea typeface="Aptos"/>
                <a:cs typeface="Aptos"/>
              </a:rPr>
              <a:t>SYSTEM ARCHITECTURE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8F51933-99BF-4FE3-8E6E-6615ABAEAB3C}"/>
              </a:ext>
            </a:extLst>
          </p:cNvPr>
          <p:cNvSpPr>
            <a:spLocks noGrp="1"/>
          </p:cNvSpPr>
          <p:nvPr/>
        </p:nvSpPr>
        <p:spPr>
          <a:xfrm>
            <a:off x="514350" y="723900"/>
            <a:ext cx="781050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rPr>
              <a:t>The implementation closes the loop from playback telemetry to quality switching.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D8E8F7D-A1F8-4E5D-AD0B-B75C5937C07F}"/>
              </a:ext>
            </a:extLst>
          </p:cNvPr>
          <p:cNvSpPr>
            <a:spLocks noGrp="1"/>
          </p:cNvSpPr>
          <p:nvPr/>
        </p:nvSpPr>
        <p:spPr>
          <a:xfrm>
            <a:off x="571500" y="2857500"/>
            <a:ext cx="1619250" cy="1066800"/>
          </a:xfrm>
          <a:prstGeom prst="rect">
            <a:avLst/>
          </a:prstGeom>
          <a:solidFill>
            <a:srgbClr val="102236"/>
          </a:solidFill>
          <a:ln w="9525">
            <a:solidFill>
              <a:srgbClr val="FFD166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0B75E72-2A5B-4E4B-BB1A-BE7ED699F7FC}"/>
              </a:ext>
            </a:extLst>
          </p:cNvPr>
          <p:cNvSpPr>
            <a:spLocks noGrp="1"/>
          </p:cNvSpPr>
          <p:nvPr/>
        </p:nvSpPr>
        <p:spPr>
          <a:xfrm>
            <a:off x="704850" y="3028950"/>
            <a:ext cx="1352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D16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D166"/>
                </a:solidFill>
                <a:latin typeface="Aptos Display"/>
                <a:ea typeface="Aptos Display"/>
                <a:cs typeface="Aptos Display"/>
              </a:rPr>
              <a:t>Input video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6CB7FB8-8809-4DC1-8A9F-2CAB8282D37D}"/>
              </a:ext>
            </a:extLst>
          </p:cNvPr>
          <p:cNvSpPr>
            <a:spLocks noGrp="1"/>
          </p:cNvSpPr>
          <p:nvPr/>
        </p:nvSpPr>
        <p:spPr>
          <a:xfrm>
            <a:off x="704850" y="3371850"/>
            <a:ext cx="13525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6F2EA"/>
                </a:solidFill>
                <a:latin typeface="Aptos"/>
                <a:ea typeface="Aptos"/>
                <a:cs typeface="Aptos"/>
              </a:rPr>
              <a:t>sample.mp4 / dataset video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4E01685-B8FC-469B-8C2E-7C5B4F726A81}"/>
              </a:ext>
            </a:extLst>
          </p:cNvPr>
          <p:cNvSpPr>
            <a:spLocks noGrp="1"/>
          </p:cNvSpPr>
          <p:nvPr/>
        </p:nvSpPr>
        <p:spPr>
          <a:xfrm>
            <a:off x="2762250" y="2857500"/>
            <a:ext cx="1619250" cy="1066800"/>
          </a:xfrm>
          <a:prstGeom prst="rect">
            <a:avLst/>
          </a:prstGeom>
          <a:solidFill>
            <a:srgbClr val="102236"/>
          </a:solidFill>
          <a:ln w="9525">
            <a:solidFill>
              <a:srgbClr val="36D1DC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8186D2-164C-4A5C-9891-128A7783A274}"/>
              </a:ext>
            </a:extLst>
          </p:cNvPr>
          <p:cNvSpPr>
            <a:spLocks noGrp="1"/>
          </p:cNvSpPr>
          <p:nvPr/>
        </p:nvSpPr>
        <p:spPr>
          <a:xfrm>
            <a:off x="2895600" y="3028950"/>
            <a:ext cx="1352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36D1DC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36D1DC"/>
                </a:solidFill>
                <a:latin typeface="Aptos Display"/>
                <a:ea typeface="Aptos Display"/>
                <a:cs typeface="Aptos Display"/>
              </a:rPr>
              <a:t>FFmpeg DASH packager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DBDC46B-7EA4-4862-945E-1FA39C724272}"/>
              </a:ext>
            </a:extLst>
          </p:cNvPr>
          <p:cNvSpPr>
            <a:spLocks noGrp="1"/>
          </p:cNvSpPr>
          <p:nvPr/>
        </p:nvSpPr>
        <p:spPr>
          <a:xfrm>
            <a:off x="2895600" y="3371850"/>
            <a:ext cx="13525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6F2EA"/>
                </a:solidFill>
                <a:latin typeface="Aptos"/>
                <a:ea typeface="Aptos"/>
                <a:cs typeface="Aptos"/>
              </a:rPr>
              <a:t>4-second segments + manifest.mpd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A05A9F3-A8F9-4986-9F6A-BE6DC0D5A942}"/>
              </a:ext>
            </a:extLst>
          </p:cNvPr>
          <p:cNvSpPr>
            <a:spLocks noGrp="1"/>
          </p:cNvSpPr>
          <p:nvPr/>
        </p:nvSpPr>
        <p:spPr>
          <a:xfrm>
            <a:off x="5257800" y="2857500"/>
            <a:ext cx="1619250" cy="1066800"/>
          </a:xfrm>
          <a:prstGeom prst="rect">
            <a:avLst/>
          </a:prstGeom>
          <a:solidFill>
            <a:srgbClr val="102236"/>
          </a:solidFill>
          <a:ln w="9525">
            <a:solidFill>
              <a:srgbClr val="B7F16A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1992A6-8CB3-43B6-9D78-7B2A0D4655F7}"/>
              </a:ext>
            </a:extLst>
          </p:cNvPr>
          <p:cNvSpPr>
            <a:spLocks noGrp="1"/>
          </p:cNvSpPr>
          <p:nvPr/>
        </p:nvSpPr>
        <p:spPr>
          <a:xfrm>
            <a:off x="5391150" y="3028950"/>
            <a:ext cx="1352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B7F16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B7F16A"/>
                </a:solidFill>
                <a:latin typeface="Aptos Display"/>
                <a:ea typeface="Aptos Display"/>
                <a:cs typeface="Aptos Display"/>
              </a:rPr>
              <a:t>Flask server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08802D0-D89A-42EB-A0C5-D6016B5DFD24}"/>
              </a:ext>
            </a:extLst>
          </p:cNvPr>
          <p:cNvSpPr>
            <a:spLocks noGrp="1"/>
          </p:cNvSpPr>
          <p:nvPr/>
        </p:nvSpPr>
        <p:spPr>
          <a:xfrm>
            <a:off x="5391150" y="3371850"/>
            <a:ext cx="13525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6F2EA"/>
                </a:solidFill>
                <a:latin typeface="Aptos"/>
                <a:ea typeface="Aptos"/>
                <a:cs typeface="Aptos"/>
              </a:rPr>
              <a:t>segments + prediction API + logging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D5A76D9-51E9-4474-8830-DA65C582BD4D}"/>
              </a:ext>
            </a:extLst>
          </p:cNvPr>
          <p:cNvSpPr>
            <a:spLocks noGrp="1"/>
          </p:cNvSpPr>
          <p:nvPr/>
        </p:nvSpPr>
        <p:spPr>
          <a:xfrm>
            <a:off x="7753350" y="2857500"/>
            <a:ext cx="1619250" cy="1066800"/>
          </a:xfrm>
          <a:prstGeom prst="rect">
            <a:avLst/>
          </a:prstGeom>
          <a:solidFill>
            <a:srgbClr val="102236"/>
          </a:solidFill>
          <a:ln w="9525">
            <a:solidFill>
              <a:srgbClr val="FF6B5F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23F9DC9-4A3D-4349-A2DE-D7CEF645900E}"/>
              </a:ext>
            </a:extLst>
          </p:cNvPr>
          <p:cNvSpPr>
            <a:spLocks noGrp="1"/>
          </p:cNvSpPr>
          <p:nvPr/>
        </p:nvSpPr>
        <p:spPr>
          <a:xfrm>
            <a:off x="7886700" y="3028950"/>
            <a:ext cx="1352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6B5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6B5F"/>
                </a:solidFill>
                <a:latin typeface="Aptos Display"/>
                <a:ea typeface="Aptos Display"/>
                <a:cs typeface="Aptos Display"/>
              </a:rPr>
              <a:t>Browser player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2CD6F24-2C52-49C8-B7BC-50DECC9B64C8}"/>
              </a:ext>
            </a:extLst>
          </p:cNvPr>
          <p:cNvSpPr>
            <a:spLocks noGrp="1"/>
          </p:cNvSpPr>
          <p:nvPr/>
        </p:nvSpPr>
        <p:spPr>
          <a:xfrm>
            <a:off x="7886700" y="3371850"/>
            <a:ext cx="13525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6F2EA"/>
                </a:solidFill>
                <a:latin typeface="Aptos"/>
                <a:ea typeface="Aptos"/>
                <a:cs typeface="Aptos"/>
              </a:rPr>
              <a:t>dash.js playback dashboard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5721199-3CF5-45F5-8D15-2FFAF971C5B8}"/>
              </a:ext>
            </a:extLst>
          </p:cNvPr>
          <p:cNvSpPr>
            <a:spLocks noGrp="1"/>
          </p:cNvSpPr>
          <p:nvPr/>
        </p:nvSpPr>
        <p:spPr>
          <a:xfrm>
            <a:off x="9867900" y="2857500"/>
            <a:ext cx="1619250" cy="1066800"/>
          </a:xfrm>
          <a:prstGeom prst="rect">
            <a:avLst/>
          </a:prstGeom>
          <a:solidFill>
            <a:srgbClr val="102236"/>
          </a:solidFill>
          <a:ln w="9525">
            <a:solidFill>
              <a:srgbClr val="FFD166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B0E4388-8013-4860-9388-D7A2CDA2B80E}"/>
              </a:ext>
            </a:extLst>
          </p:cNvPr>
          <p:cNvSpPr>
            <a:spLocks noGrp="1"/>
          </p:cNvSpPr>
          <p:nvPr/>
        </p:nvSpPr>
        <p:spPr>
          <a:xfrm>
            <a:off x="10001250" y="3028950"/>
            <a:ext cx="1352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D16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D166"/>
                </a:solidFill>
                <a:latin typeface="Aptos Display"/>
                <a:ea typeface="Aptos Display"/>
                <a:cs typeface="Aptos Display"/>
              </a:rPr>
              <a:t>Result analysis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CBF0E86-1FDD-497C-AD88-C80AD9EE5C8C}"/>
              </a:ext>
            </a:extLst>
          </p:cNvPr>
          <p:cNvSpPr>
            <a:spLocks noGrp="1"/>
          </p:cNvSpPr>
          <p:nvPr/>
        </p:nvSpPr>
        <p:spPr>
          <a:xfrm>
            <a:off x="10001250" y="3371850"/>
            <a:ext cx="13525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6F2EA"/>
                </a:solidFill>
                <a:latin typeface="Aptos"/>
                <a:ea typeface="Aptos"/>
                <a:cs typeface="Aptos"/>
              </a:rPr>
              <a:t>QoS graphs + summary CSV</a:t>
            </a:r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7F6A3E14-F86D-4F0F-B7CF-2BFAFD686EA7}"/>
              </a:ext>
            </a:extLst>
          </p:cNvPr>
          <p:cNvSpPr>
            <a:spLocks noGrp="1"/>
          </p:cNvSpPr>
          <p:nvPr/>
        </p:nvSpPr>
        <p:spPr>
          <a:xfrm>
            <a:off x="2190750" y="3390900"/>
            <a:ext cx="400050" cy="0"/>
          </a:xfrm>
          <a:prstGeom prst="line">
            <a:avLst/>
          </a:prstGeom>
          <a:solidFill>
            <a:srgbClr val="000000">
              <a:alpha val="0"/>
            </a:srgbClr>
          </a:solidFill>
          <a:ln w="19050">
            <a:solidFill>
              <a:srgbClr val="8EA3B8"/>
            </a:solidFill>
            <a:prstDash val="solid"/>
          </a:ln>
        </p:spPr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7934833C-6785-424C-A2D0-C8D6B4CEB0FA}"/>
              </a:ext>
            </a:extLst>
          </p:cNvPr>
          <p:cNvSpPr>
            <a:spLocks noGrp="1"/>
          </p:cNvSpPr>
          <p:nvPr/>
        </p:nvSpPr>
        <p:spPr>
          <a:xfrm>
            <a:off x="2533650" y="3343275"/>
            <a:ext cx="95250" cy="95250"/>
          </a:xfrm>
          <a:prstGeom prst="triangle">
            <a:avLst/>
          </a:prstGeom>
          <a:solidFill>
            <a:srgbClr val="8EA3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605B105E-DF41-46AD-8360-AB5BEE0E31D3}"/>
              </a:ext>
            </a:extLst>
          </p:cNvPr>
          <p:cNvSpPr>
            <a:spLocks noGrp="1"/>
          </p:cNvSpPr>
          <p:nvPr/>
        </p:nvSpPr>
        <p:spPr>
          <a:xfrm>
            <a:off x="4686300" y="3390900"/>
            <a:ext cx="400050" cy="0"/>
          </a:xfrm>
          <a:prstGeom prst="line">
            <a:avLst/>
          </a:prstGeom>
          <a:solidFill>
            <a:srgbClr val="000000">
              <a:alpha val="0"/>
            </a:srgbClr>
          </a:solidFill>
          <a:ln w="19050">
            <a:solidFill>
              <a:srgbClr val="8EA3B8"/>
            </a:solidFill>
            <a:prstDash val="solid"/>
          </a:ln>
        </p:spPr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041E440E-91A6-429F-AD39-315B849D81D4}"/>
              </a:ext>
            </a:extLst>
          </p:cNvPr>
          <p:cNvSpPr>
            <a:spLocks noGrp="1"/>
          </p:cNvSpPr>
          <p:nvPr/>
        </p:nvSpPr>
        <p:spPr>
          <a:xfrm>
            <a:off x="5029200" y="3343275"/>
            <a:ext cx="95250" cy="95250"/>
          </a:xfrm>
          <a:prstGeom prst="triangle">
            <a:avLst/>
          </a:prstGeom>
          <a:solidFill>
            <a:srgbClr val="8EA3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54A86512-A701-471D-B16D-31A244782CE2}"/>
              </a:ext>
            </a:extLst>
          </p:cNvPr>
          <p:cNvSpPr>
            <a:spLocks noGrp="1"/>
          </p:cNvSpPr>
          <p:nvPr/>
        </p:nvSpPr>
        <p:spPr>
          <a:xfrm>
            <a:off x="7181850" y="3390900"/>
            <a:ext cx="400050" cy="0"/>
          </a:xfrm>
          <a:prstGeom prst="line">
            <a:avLst/>
          </a:prstGeom>
          <a:solidFill>
            <a:srgbClr val="000000">
              <a:alpha val="0"/>
            </a:srgbClr>
          </a:solidFill>
          <a:ln w="19050">
            <a:solidFill>
              <a:srgbClr val="8EA3B8"/>
            </a:solidFill>
            <a:prstDash val="solid"/>
          </a:ln>
        </p:spPr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D0ED11B0-C278-4280-8A57-F2664DA25C00}"/>
              </a:ext>
            </a:extLst>
          </p:cNvPr>
          <p:cNvSpPr>
            <a:spLocks noGrp="1"/>
          </p:cNvSpPr>
          <p:nvPr/>
        </p:nvSpPr>
        <p:spPr>
          <a:xfrm>
            <a:off x="7524750" y="3343275"/>
            <a:ext cx="95250" cy="95250"/>
          </a:xfrm>
          <a:prstGeom prst="triangle">
            <a:avLst/>
          </a:prstGeom>
          <a:solidFill>
            <a:srgbClr val="8EA3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70551F26-A232-40A6-AF9B-DC404FAFD135}"/>
              </a:ext>
            </a:extLst>
          </p:cNvPr>
          <p:cNvSpPr>
            <a:spLocks noGrp="1"/>
          </p:cNvSpPr>
          <p:nvPr/>
        </p:nvSpPr>
        <p:spPr>
          <a:xfrm>
            <a:off x="9296400" y="3390900"/>
            <a:ext cx="400050" cy="0"/>
          </a:xfrm>
          <a:prstGeom prst="line">
            <a:avLst/>
          </a:prstGeom>
          <a:solidFill>
            <a:srgbClr val="000000">
              <a:alpha val="0"/>
            </a:srgbClr>
          </a:solidFill>
          <a:ln w="19050">
            <a:solidFill>
              <a:srgbClr val="8EA3B8"/>
            </a:solidFill>
            <a:prstDash val="solid"/>
          </a:ln>
        </p:spPr>
      </p:sp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B0854D94-A5DB-45B3-8172-AB043DED7935}"/>
              </a:ext>
            </a:extLst>
          </p:cNvPr>
          <p:cNvSpPr>
            <a:spLocks noGrp="1"/>
          </p:cNvSpPr>
          <p:nvPr/>
        </p:nvSpPr>
        <p:spPr>
          <a:xfrm>
            <a:off x="9639300" y="3343275"/>
            <a:ext cx="95250" cy="95250"/>
          </a:xfrm>
          <a:prstGeom prst="triangle">
            <a:avLst/>
          </a:prstGeom>
          <a:solidFill>
            <a:srgbClr val="8EA3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4BD442C-1397-45EB-99FC-86A20EA19F0B}"/>
              </a:ext>
            </a:extLst>
          </p:cNvPr>
          <p:cNvSpPr>
            <a:spLocks noGrp="1"/>
          </p:cNvSpPr>
          <p:nvPr/>
        </p:nvSpPr>
        <p:spPr>
          <a:xfrm>
            <a:off x="7162800" y="4267200"/>
            <a:ext cx="2247900" cy="914400"/>
          </a:xfrm>
          <a:prstGeom prst="rect">
            <a:avLst/>
          </a:prstGeom>
          <a:solidFill>
            <a:srgbClr val="132A42"/>
          </a:solidFill>
          <a:ln w="9525">
            <a:solidFill>
              <a:srgbClr val="B7F16A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D5D1976-D06B-4209-882D-5E57C68E0A70}"/>
              </a:ext>
            </a:extLst>
          </p:cNvPr>
          <p:cNvSpPr>
            <a:spLocks noGrp="1"/>
          </p:cNvSpPr>
          <p:nvPr/>
        </p:nvSpPr>
        <p:spPr>
          <a:xfrm>
            <a:off x="7372350" y="4438650"/>
            <a:ext cx="1809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B7F16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B7F16A"/>
                </a:solidFill>
                <a:latin typeface="Aptos Display"/>
                <a:ea typeface="Aptos Display"/>
                <a:cs typeface="Aptos Display"/>
              </a:rPr>
              <a:t>Random Forest predictor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7DB490A-D0F6-4043-8F30-5D8474A77350}"/>
              </a:ext>
            </a:extLst>
          </p:cNvPr>
          <p:cNvSpPr>
            <a:spLocks noGrp="1"/>
          </p:cNvSpPr>
          <p:nvPr/>
        </p:nvSpPr>
        <p:spPr>
          <a:xfrm>
            <a:off x="7372350" y="4724400"/>
            <a:ext cx="1809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6F2EA"/>
                </a:solidFill>
                <a:latin typeface="Aptos"/>
                <a:ea typeface="Aptos"/>
                <a:cs typeface="Aptos"/>
              </a:rPr>
              <a:t>Inputs: throughput, previous throughput, buffer, latency, packet loss, jitter, current quality</a:t>
            </a:r>
          </a:p>
        </p:txBody>
      </p:sp>
      <p:sp>
        <p:nvSpPr>
          <p:cNvPr id="31" name="Straight Connector 30">
            <a:extLst>
              <a:ext uri="{FF2B5EF4-FFF2-40B4-BE49-F238E27FC236}">
                <a16:creationId xmlns:a16="http://schemas.microsoft.com/office/drawing/2014/main" id="{DB78311B-CCE5-46E7-9E3B-862F83873F7E}"/>
              </a:ext>
            </a:extLst>
          </p:cNvPr>
          <p:cNvSpPr>
            <a:spLocks noGrp="1"/>
          </p:cNvSpPr>
          <p:nvPr/>
        </p:nvSpPr>
        <p:spPr>
          <a:xfrm>
            <a:off x="8286750" y="4267200"/>
            <a:ext cx="9525" cy="0"/>
          </a:xfrm>
          <a:prstGeom prst="line">
            <a:avLst/>
          </a:prstGeom>
          <a:solidFill>
            <a:srgbClr val="000000">
              <a:alpha val="0"/>
            </a:srgbClr>
          </a:solidFill>
          <a:ln w="19050">
            <a:solidFill>
              <a:srgbClr val="B7F16A"/>
            </a:solidFill>
            <a:prstDash val="solid"/>
          </a:ln>
        </p:spPr>
      </p: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F681BBAC-DC38-419B-AB50-322333BA6A0C}"/>
              </a:ext>
            </a:extLst>
          </p:cNvPr>
          <p:cNvSpPr>
            <a:spLocks noGrp="1"/>
          </p:cNvSpPr>
          <p:nvPr/>
        </p:nvSpPr>
        <p:spPr>
          <a:xfrm>
            <a:off x="8229600" y="3895725"/>
            <a:ext cx="95250" cy="95250"/>
          </a:xfrm>
          <a:prstGeom prst="triangle">
            <a:avLst/>
          </a:prstGeom>
          <a:solidFill>
            <a:srgbClr val="B7F1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232B17D-69BF-47FE-852F-336CE15A7AF5}"/>
              </a:ext>
            </a:extLst>
          </p:cNvPr>
          <p:cNvSpPr>
            <a:spLocks noGrp="1"/>
          </p:cNvSpPr>
          <p:nvPr/>
        </p:nvSpPr>
        <p:spPr>
          <a:xfrm>
            <a:off x="514350" y="6438900"/>
            <a:ext cx="723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E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EA3B8"/>
                </a:solidFill>
                <a:latin typeface="Aptos"/>
                <a:ea typeface="Aptos"/>
                <a:cs typeface="Aptos"/>
              </a:rPr>
              <a:t>Source: app.py, generate_dash.py, ai_model.py, static/js/player.js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CA68C9A-FCF7-49F6-9B74-543A7FE96056}"/>
              </a:ext>
            </a:extLst>
          </p:cNvPr>
          <p:cNvSpPr>
            <a:spLocks noGrp="1"/>
          </p:cNvSpPr>
          <p:nvPr/>
        </p:nvSpPr>
        <p:spPr>
          <a:xfrm>
            <a:off x="11163300" y="6438900"/>
            <a:ext cx="514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8EA3B8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8EA3B8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904576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B21266E7-6B78-4958-9B05-BA3AD9C7337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2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0FFAB392-145F-4A6B-99DF-80584FE432DD}"/>
              </a:ext>
            </a:extLst>
          </p:cNvPr>
          <p:cNvSpPr>
            <a:spLocks noGrp="1"/>
          </p:cNvSpPr>
          <p:nvPr/>
        </p:nvSpPr>
        <p:spPr>
          <a:xfrm>
            <a:off x="533400" y="400050"/>
            <a:ext cx="95250" cy="95250"/>
          </a:xfrm>
          <a:prstGeom prst="rect">
            <a:avLst/>
          </a:prstGeom>
          <a:solidFill>
            <a:srgbClr val="FF6B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193C9D76-2360-4507-AEDD-A770735F5CCA}"/>
              </a:ext>
            </a:extLst>
          </p:cNvPr>
          <p:cNvSpPr>
            <a:spLocks noGrp="1"/>
          </p:cNvSpPr>
          <p:nvPr/>
        </p:nvSpPr>
        <p:spPr>
          <a:xfrm>
            <a:off x="723900" y="333375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FF6B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6B5F"/>
                </a:solidFill>
                <a:latin typeface="Aptos"/>
                <a:ea typeface="Aptos"/>
                <a:cs typeface="Aptos"/>
              </a:rPr>
              <a:t>DASH ENCODING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DD13781-0A0D-470B-9937-D5962331E86D}"/>
              </a:ext>
            </a:extLst>
          </p:cNvPr>
          <p:cNvSpPr>
            <a:spLocks noGrp="1"/>
          </p:cNvSpPr>
          <p:nvPr/>
        </p:nvSpPr>
        <p:spPr>
          <a:xfrm>
            <a:off x="514350" y="723900"/>
            <a:ext cx="781050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A real bitrate ladder lets the AI choose actual playable representations.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B47B8E-316B-416A-B940-699AEC60C1B5}"/>
              </a:ext>
            </a:extLst>
          </p:cNvPr>
          <p:cNvSpPr>
            <a:spLocks noGrp="1"/>
          </p:cNvSpPr>
          <p:nvPr/>
        </p:nvSpPr>
        <p:spPr>
          <a:xfrm>
            <a:off x="552450" y="2038350"/>
            <a:ext cx="72390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54677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4677C"/>
                </a:solidFill>
                <a:latin typeface="Aptos"/>
                <a:ea typeface="Aptos"/>
                <a:cs typeface="Aptos"/>
              </a:rPr>
              <a:t>generate_dash.py uses FFmpeg to create a manifest and segmented .m4s streams at multiple resolutions.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4A5C44-A27D-4D04-8F9A-6D6E64FB1979}"/>
              </a:ext>
            </a:extLst>
          </p:cNvPr>
          <p:cNvSpPr>
            <a:spLocks noGrp="1"/>
          </p:cNvSpPr>
          <p:nvPr/>
        </p:nvSpPr>
        <p:spPr>
          <a:xfrm>
            <a:off x="1143000" y="4657725"/>
            <a:ext cx="1476375" cy="676275"/>
          </a:xfrm>
          <a:prstGeom prst="rect">
            <a:avLst/>
          </a:prstGeom>
          <a:solidFill>
            <a:srgbClr val="FF6B5F"/>
          </a:solidFill>
          <a:ln w="9525">
            <a:solidFill>
              <a:srgbClr val="08111F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28B139-0511-42E8-84A2-F8AFE767BB4F}"/>
              </a:ext>
            </a:extLst>
          </p:cNvPr>
          <p:cNvSpPr>
            <a:spLocks noGrp="1"/>
          </p:cNvSpPr>
          <p:nvPr/>
        </p:nvSpPr>
        <p:spPr>
          <a:xfrm>
            <a:off x="1143000" y="5543550"/>
            <a:ext cx="14763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240p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E3E8ED-67AA-41EA-8DFD-D6CACC579FE4}"/>
              </a:ext>
            </a:extLst>
          </p:cNvPr>
          <p:cNvSpPr>
            <a:spLocks noGrp="1"/>
          </p:cNvSpPr>
          <p:nvPr/>
        </p:nvSpPr>
        <p:spPr>
          <a:xfrm>
            <a:off x="1143000" y="5829300"/>
            <a:ext cx="147637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54677C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54677C"/>
                </a:solidFill>
                <a:latin typeface="Aptos Mono"/>
                <a:ea typeface="Aptos Mono"/>
                <a:cs typeface="Aptos Mono"/>
              </a:rPr>
              <a:t>400 kbps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190A94-61BF-41E1-A756-93761A2C7E08}"/>
              </a:ext>
            </a:extLst>
          </p:cNvPr>
          <p:cNvSpPr>
            <a:spLocks noGrp="1"/>
          </p:cNvSpPr>
          <p:nvPr/>
        </p:nvSpPr>
        <p:spPr>
          <a:xfrm>
            <a:off x="3381375" y="4181475"/>
            <a:ext cx="1476375" cy="1152525"/>
          </a:xfrm>
          <a:prstGeom prst="rect">
            <a:avLst/>
          </a:prstGeom>
          <a:solidFill>
            <a:srgbClr val="FFD166"/>
          </a:solidFill>
          <a:ln w="9525">
            <a:solidFill>
              <a:srgbClr val="08111F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2BB58D6-AE55-4C60-87C9-2BFAAB362387}"/>
              </a:ext>
            </a:extLst>
          </p:cNvPr>
          <p:cNvSpPr>
            <a:spLocks noGrp="1"/>
          </p:cNvSpPr>
          <p:nvPr/>
        </p:nvSpPr>
        <p:spPr>
          <a:xfrm>
            <a:off x="3381375" y="5543550"/>
            <a:ext cx="14763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360p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D7CADC3-4945-4A7C-AD31-0E3CE56025C3}"/>
              </a:ext>
            </a:extLst>
          </p:cNvPr>
          <p:cNvSpPr>
            <a:spLocks noGrp="1"/>
          </p:cNvSpPr>
          <p:nvPr/>
        </p:nvSpPr>
        <p:spPr>
          <a:xfrm>
            <a:off x="3381375" y="5829300"/>
            <a:ext cx="147637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54677C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54677C"/>
                </a:solidFill>
                <a:latin typeface="Aptos Mono"/>
                <a:ea typeface="Aptos Mono"/>
                <a:cs typeface="Aptos Mono"/>
              </a:rPr>
              <a:t>1000 kbps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427862-D25D-47D9-88CF-310D5E666859}"/>
              </a:ext>
            </a:extLst>
          </p:cNvPr>
          <p:cNvSpPr>
            <a:spLocks noGrp="1"/>
          </p:cNvSpPr>
          <p:nvPr/>
        </p:nvSpPr>
        <p:spPr>
          <a:xfrm>
            <a:off x="5619750" y="3514725"/>
            <a:ext cx="1476375" cy="1819275"/>
          </a:xfrm>
          <a:prstGeom prst="rect">
            <a:avLst/>
          </a:prstGeom>
          <a:solidFill>
            <a:srgbClr val="36D1DC"/>
          </a:solidFill>
          <a:ln w="9525">
            <a:solidFill>
              <a:srgbClr val="08111F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C3872A9-D0D4-4C50-BC94-C21FBED4B94E}"/>
              </a:ext>
            </a:extLst>
          </p:cNvPr>
          <p:cNvSpPr>
            <a:spLocks noGrp="1"/>
          </p:cNvSpPr>
          <p:nvPr/>
        </p:nvSpPr>
        <p:spPr>
          <a:xfrm>
            <a:off x="5619750" y="5543550"/>
            <a:ext cx="14763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720p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8AED05-4B9A-44CF-9402-C3449AF29159}"/>
              </a:ext>
            </a:extLst>
          </p:cNvPr>
          <p:cNvSpPr>
            <a:spLocks noGrp="1"/>
          </p:cNvSpPr>
          <p:nvPr/>
        </p:nvSpPr>
        <p:spPr>
          <a:xfrm>
            <a:off x="5619750" y="5829300"/>
            <a:ext cx="147637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54677C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54677C"/>
                </a:solidFill>
                <a:latin typeface="Aptos Mono"/>
                <a:ea typeface="Aptos Mono"/>
                <a:cs typeface="Aptos Mono"/>
              </a:rPr>
              <a:t>2500 kbps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7D5F3BE-C235-434C-B4B9-DE3BE26A8CD9}"/>
              </a:ext>
            </a:extLst>
          </p:cNvPr>
          <p:cNvSpPr>
            <a:spLocks noGrp="1"/>
          </p:cNvSpPr>
          <p:nvPr/>
        </p:nvSpPr>
        <p:spPr>
          <a:xfrm>
            <a:off x="7858125" y="2619375"/>
            <a:ext cx="1476375" cy="2714625"/>
          </a:xfrm>
          <a:prstGeom prst="rect">
            <a:avLst/>
          </a:prstGeom>
          <a:solidFill>
            <a:srgbClr val="B7F16A"/>
          </a:solidFill>
          <a:ln w="9525">
            <a:solidFill>
              <a:srgbClr val="08111F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575F530-DCDA-48A5-BCDA-E8B3E860FBC6}"/>
              </a:ext>
            </a:extLst>
          </p:cNvPr>
          <p:cNvSpPr>
            <a:spLocks noGrp="1"/>
          </p:cNvSpPr>
          <p:nvPr/>
        </p:nvSpPr>
        <p:spPr>
          <a:xfrm>
            <a:off x="7858125" y="5543550"/>
            <a:ext cx="14763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1080p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E64EEC7-A8CC-4893-9F82-CB54F65B8F8F}"/>
              </a:ext>
            </a:extLst>
          </p:cNvPr>
          <p:cNvSpPr>
            <a:spLocks noGrp="1"/>
          </p:cNvSpPr>
          <p:nvPr/>
        </p:nvSpPr>
        <p:spPr>
          <a:xfrm>
            <a:off x="7858125" y="5829300"/>
            <a:ext cx="147637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54677C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54677C"/>
                </a:solidFill>
                <a:latin typeface="Aptos Mono"/>
                <a:ea typeface="Aptos Mono"/>
                <a:cs typeface="Aptos Mono"/>
              </a:rPr>
              <a:t>6000 kbps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2231261-F603-45C3-BB2F-85805234AE75}"/>
              </a:ext>
            </a:extLst>
          </p:cNvPr>
          <p:cNvSpPr>
            <a:spLocks noGrp="1"/>
          </p:cNvSpPr>
          <p:nvPr/>
        </p:nvSpPr>
        <p:spPr>
          <a:xfrm>
            <a:off x="9810750" y="2914650"/>
            <a:ext cx="1619250" cy="876300"/>
          </a:xfrm>
          <a:prstGeom prst="rect">
            <a:avLst/>
          </a:prstGeom>
          <a:solidFill>
            <a:srgbClr val="F6F2EA"/>
          </a:solidFill>
          <a:ln w="9525">
            <a:solidFill>
              <a:srgbClr val="36D1DC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29FB346-4283-4E6A-8FE6-04F45007D443}"/>
              </a:ext>
            </a:extLst>
          </p:cNvPr>
          <p:cNvSpPr>
            <a:spLocks noGrp="1"/>
          </p:cNvSpPr>
          <p:nvPr/>
        </p:nvSpPr>
        <p:spPr>
          <a:xfrm>
            <a:off x="9982200" y="3009900"/>
            <a:ext cx="12763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36D1DC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36D1DC"/>
                </a:solidFill>
                <a:latin typeface="Aptos Display"/>
                <a:ea typeface="Aptos Display"/>
                <a:cs typeface="Aptos Display"/>
              </a:rPr>
              <a:t>4 sec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EADB747-797E-4186-A1D1-8482CC8D5778}"/>
              </a:ext>
            </a:extLst>
          </p:cNvPr>
          <p:cNvSpPr>
            <a:spLocks noGrp="1"/>
          </p:cNvSpPr>
          <p:nvPr/>
        </p:nvSpPr>
        <p:spPr>
          <a:xfrm>
            <a:off x="9982200" y="3400425"/>
            <a:ext cx="12763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4677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4677C"/>
                </a:solidFill>
                <a:latin typeface="Aptos"/>
                <a:ea typeface="Aptos"/>
                <a:cs typeface="Aptos"/>
              </a:rPr>
              <a:t>segment duration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450D917-72B9-4B09-A7C0-662DB62D35B0}"/>
              </a:ext>
            </a:extLst>
          </p:cNvPr>
          <p:cNvSpPr>
            <a:spLocks noGrp="1"/>
          </p:cNvSpPr>
          <p:nvPr/>
        </p:nvSpPr>
        <p:spPr>
          <a:xfrm>
            <a:off x="9810750" y="4038600"/>
            <a:ext cx="1619250" cy="876300"/>
          </a:xfrm>
          <a:prstGeom prst="rect">
            <a:avLst/>
          </a:prstGeom>
          <a:solidFill>
            <a:srgbClr val="F6F2EA"/>
          </a:solidFill>
          <a:ln w="9525">
            <a:solidFill>
              <a:srgbClr val="FF6B5F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67E76B8-E0D2-4352-A9FD-96B5B607394C}"/>
              </a:ext>
            </a:extLst>
          </p:cNvPr>
          <p:cNvSpPr>
            <a:spLocks noGrp="1"/>
          </p:cNvSpPr>
          <p:nvPr/>
        </p:nvSpPr>
        <p:spPr>
          <a:xfrm>
            <a:off x="9982200" y="4133850"/>
            <a:ext cx="12763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FF6B5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6B5F"/>
                </a:solidFill>
                <a:latin typeface="Aptos Display"/>
                <a:ea typeface="Aptos Display"/>
                <a:cs typeface="Aptos Display"/>
              </a:rPr>
              <a:t>MPD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45A3F2E-6E85-4B2F-89EF-C95D877EBDAE}"/>
              </a:ext>
            </a:extLst>
          </p:cNvPr>
          <p:cNvSpPr>
            <a:spLocks noGrp="1"/>
          </p:cNvSpPr>
          <p:nvPr/>
        </p:nvSpPr>
        <p:spPr>
          <a:xfrm>
            <a:off x="9982200" y="4524375"/>
            <a:ext cx="12763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4677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4677C"/>
                </a:solidFill>
                <a:latin typeface="Aptos"/>
                <a:ea typeface="Aptos"/>
                <a:cs typeface="Aptos"/>
              </a:rPr>
              <a:t>manifest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3C33FFB-AB92-4AE4-BE2A-C13F30B30363}"/>
              </a:ext>
            </a:extLst>
          </p:cNvPr>
          <p:cNvSpPr>
            <a:spLocks noGrp="1"/>
          </p:cNvSpPr>
          <p:nvPr/>
        </p:nvSpPr>
        <p:spPr>
          <a:xfrm>
            <a:off x="514350" y="6438900"/>
            <a:ext cx="723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E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EA3B8"/>
                </a:solidFill>
                <a:latin typeface="Aptos"/>
                <a:ea typeface="Aptos"/>
                <a:cs typeface="Aptos"/>
              </a:rPr>
              <a:t>Source: generate_dash.py encoding ladder and media/dash outputs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012EE2A-96D8-4EBC-B622-BB38E84A21D5}"/>
              </a:ext>
            </a:extLst>
          </p:cNvPr>
          <p:cNvSpPr>
            <a:spLocks noGrp="1"/>
          </p:cNvSpPr>
          <p:nvPr/>
        </p:nvSpPr>
        <p:spPr>
          <a:xfrm>
            <a:off x="11163300" y="6438900"/>
            <a:ext cx="514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8EA3B8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8EA3B8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203061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95ED5D45-79A3-4B69-82E0-D22C6C9721C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11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B363EDCF-6DC6-43AA-AB4B-783F0AB40A63}"/>
              </a:ext>
            </a:extLst>
          </p:cNvPr>
          <p:cNvSpPr>
            <a:spLocks noGrp="1"/>
          </p:cNvSpPr>
          <p:nvPr/>
        </p:nvSpPr>
        <p:spPr>
          <a:xfrm>
            <a:off x="533400" y="400050"/>
            <a:ext cx="95250" cy="95250"/>
          </a:xfrm>
          <a:prstGeom prst="rect">
            <a:avLst/>
          </a:prstGeom>
          <a:solidFill>
            <a:srgbClr val="B7F1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27CDE031-275D-41EE-B9B0-048744859E4F}"/>
              </a:ext>
            </a:extLst>
          </p:cNvPr>
          <p:cNvSpPr>
            <a:spLocks noGrp="1"/>
          </p:cNvSpPr>
          <p:nvPr/>
        </p:nvSpPr>
        <p:spPr>
          <a:xfrm>
            <a:off x="723900" y="333375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B7F16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7F16A"/>
                </a:solidFill>
                <a:latin typeface="Aptos"/>
                <a:ea typeface="Aptos"/>
                <a:cs typeface="Aptos"/>
              </a:rPr>
              <a:t>AI BITRATE PREDICTION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B093C4-1DE1-43C2-965B-21651D5318CF}"/>
              </a:ext>
            </a:extLst>
          </p:cNvPr>
          <p:cNvSpPr>
            <a:spLocks noGrp="1"/>
          </p:cNvSpPr>
          <p:nvPr/>
        </p:nvSpPr>
        <p:spPr>
          <a:xfrm>
            <a:off x="514350" y="723900"/>
            <a:ext cx="781050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rPr>
              <a:t>The model translates seven network features into one safe quality level.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3BC4A3D-8853-468D-B97D-26E0E65353C0}"/>
              </a:ext>
            </a:extLst>
          </p:cNvPr>
          <p:cNvSpPr>
            <a:spLocks noGrp="1"/>
          </p:cNvSpPr>
          <p:nvPr/>
        </p:nvSpPr>
        <p:spPr>
          <a:xfrm>
            <a:off x="704850" y="2362200"/>
            <a:ext cx="1771650" cy="361950"/>
          </a:xfrm>
          <a:prstGeom prst="rect">
            <a:avLst/>
          </a:prstGeom>
          <a:solidFill>
            <a:srgbClr val="102236"/>
          </a:solidFill>
          <a:ln w="9525">
            <a:solidFill>
              <a:srgbClr val="8EA3B8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760A809-CDE3-4E46-AB86-7B9B1C4B2722}"/>
              </a:ext>
            </a:extLst>
          </p:cNvPr>
          <p:cNvSpPr>
            <a:spLocks noGrp="1"/>
          </p:cNvSpPr>
          <p:nvPr/>
        </p:nvSpPr>
        <p:spPr>
          <a:xfrm>
            <a:off x="838200" y="2428875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8EA3B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EA3B8"/>
                </a:solidFill>
                <a:latin typeface="Aptos"/>
                <a:ea typeface="Aptos"/>
                <a:cs typeface="Aptos"/>
              </a:rPr>
              <a:t>throughput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FEC5587-0E07-4A80-8381-A648C8E3135D}"/>
              </a:ext>
            </a:extLst>
          </p:cNvPr>
          <p:cNvSpPr>
            <a:spLocks noGrp="1"/>
          </p:cNvSpPr>
          <p:nvPr/>
        </p:nvSpPr>
        <p:spPr>
          <a:xfrm>
            <a:off x="2800350" y="2362200"/>
            <a:ext cx="1771650" cy="361950"/>
          </a:xfrm>
          <a:prstGeom prst="rect">
            <a:avLst/>
          </a:prstGeom>
          <a:solidFill>
            <a:srgbClr val="102236"/>
          </a:solidFill>
          <a:ln w="9525">
            <a:solidFill>
              <a:srgbClr val="8EA3B8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90F479-088A-4140-B1D0-5E8F12C64C32}"/>
              </a:ext>
            </a:extLst>
          </p:cNvPr>
          <p:cNvSpPr>
            <a:spLocks noGrp="1"/>
          </p:cNvSpPr>
          <p:nvPr/>
        </p:nvSpPr>
        <p:spPr>
          <a:xfrm>
            <a:off x="2933700" y="2428875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8EA3B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EA3B8"/>
                </a:solidFill>
                <a:latin typeface="Aptos"/>
                <a:ea typeface="Aptos"/>
                <a:cs typeface="Aptos"/>
              </a:rPr>
              <a:t>previous throughput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401DF2D-C97E-4BF4-A82E-C617BB2CD0FA}"/>
              </a:ext>
            </a:extLst>
          </p:cNvPr>
          <p:cNvSpPr>
            <a:spLocks noGrp="1"/>
          </p:cNvSpPr>
          <p:nvPr/>
        </p:nvSpPr>
        <p:spPr>
          <a:xfrm>
            <a:off x="704850" y="2952750"/>
            <a:ext cx="1771650" cy="361950"/>
          </a:xfrm>
          <a:prstGeom prst="rect">
            <a:avLst/>
          </a:prstGeom>
          <a:solidFill>
            <a:srgbClr val="102236"/>
          </a:solidFill>
          <a:ln w="9525">
            <a:solidFill>
              <a:srgbClr val="8EA3B8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74F1470-F504-484C-9435-153EBD4095EC}"/>
              </a:ext>
            </a:extLst>
          </p:cNvPr>
          <p:cNvSpPr>
            <a:spLocks noGrp="1"/>
          </p:cNvSpPr>
          <p:nvPr/>
        </p:nvSpPr>
        <p:spPr>
          <a:xfrm>
            <a:off x="838200" y="3019425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8EA3B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EA3B8"/>
                </a:solidFill>
                <a:latin typeface="Aptos"/>
                <a:ea typeface="Aptos"/>
                <a:cs typeface="Aptos"/>
              </a:rPr>
              <a:t>buffer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26A2C08-3428-4DEF-8985-F823AA8FAE2E}"/>
              </a:ext>
            </a:extLst>
          </p:cNvPr>
          <p:cNvSpPr>
            <a:spLocks noGrp="1"/>
          </p:cNvSpPr>
          <p:nvPr/>
        </p:nvSpPr>
        <p:spPr>
          <a:xfrm>
            <a:off x="2800350" y="2952750"/>
            <a:ext cx="1771650" cy="361950"/>
          </a:xfrm>
          <a:prstGeom prst="rect">
            <a:avLst/>
          </a:prstGeom>
          <a:solidFill>
            <a:srgbClr val="102236"/>
          </a:solidFill>
          <a:ln w="9525">
            <a:solidFill>
              <a:srgbClr val="8EA3B8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7526F9-A0EB-43CB-B607-EEC898E1566F}"/>
              </a:ext>
            </a:extLst>
          </p:cNvPr>
          <p:cNvSpPr>
            <a:spLocks noGrp="1"/>
          </p:cNvSpPr>
          <p:nvPr/>
        </p:nvSpPr>
        <p:spPr>
          <a:xfrm>
            <a:off x="2933700" y="3019425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8EA3B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EA3B8"/>
                </a:solidFill>
                <a:latin typeface="Aptos"/>
                <a:ea typeface="Aptos"/>
                <a:cs typeface="Aptos"/>
              </a:rPr>
              <a:t>latency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4DC561-B01F-4DB2-BD40-5B8182B967A2}"/>
              </a:ext>
            </a:extLst>
          </p:cNvPr>
          <p:cNvSpPr>
            <a:spLocks noGrp="1"/>
          </p:cNvSpPr>
          <p:nvPr/>
        </p:nvSpPr>
        <p:spPr>
          <a:xfrm>
            <a:off x="704850" y="3543300"/>
            <a:ext cx="1771650" cy="361950"/>
          </a:xfrm>
          <a:prstGeom prst="rect">
            <a:avLst/>
          </a:prstGeom>
          <a:solidFill>
            <a:srgbClr val="102236"/>
          </a:solidFill>
          <a:ln w="9525">
            <a:solidFill>
              <a:srgbClr val="8EA3B8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9366AB-3EEE-4F21-8063-873ED99C3908}"/>
              </a:ext>
            </a:extLst>
          </p:cNvPr>
          <p:cNvSpPr>
            <a:spLocks noGrp="1"/>
          </p:cNvSpPr>
          <p:nvPr/>
        </p:nvSpPr>
        <p:spPr>
          <a:xfrm>
            <a:off x="838200" y="3609975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8EA3B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EA3B8"/>
                </a:solidFill>
                <a:latin typeface="Aptos"/>
                <a:ea typeface="Aptos"/>
                <a:cs typeface="Aptos"/>
              </a:rPr>
              <a:t>packet loss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85FDD26-852E-4A60-B787-A17CE87DD039}"/>
              </a:ext>
            </a:extLst>
          </p:cNvPr>
          <p:cNvSpPr>
            <a:spLocks noGrp="1"/>
          </p:cNvSpPr>
          <p:nvPr/>
        </p:nvSpPr>
        <p:spPr>
          <a:xfrm>
            <a:off x="2800350" y="3543300"/>
            <a:ext cx="1771650" cy="361950"/>
          </a:xfrm>
          <a:prstGeom prst="rect">
            <a:avLst/>
          </a:prstGeom>
          <a:solidFill>
            <a:srgbClr val="102236"/>
          </a:solidFill>
          <a:ln w="9525">
            <a:solidFill>
              <a:srgbClr val="8EA3B8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38E2CE8-30D1-40E8-A62C-97DC326F89A0}"/>
              </a:ext>
            </a:extLst>
          </p:cNvPr>
          <p:cNvSpPr>
            <a:spLocks noGrp="1"/>
          </p:cNvSpPr>
          <p:nvPr/>
        </p:nvSpPr>
        <p:spPr>
          <a:xfrm>
            <a:off x="2933700" y="3609975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8EA3B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EA3B8"/>
                </a:solidFill>
                <a:latin typeface="Aptos"/>
                <a:ea typeface="Aptos"/>
                <a:cs typeface="Aptos"/>
              </a:rPr>
              <a:t>jitter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473E298-F8B0-4C74-982E-8FD43C4D9EAA}"/>
              </a:ext>
            </a:extLst>
          </p:cNvPr>
          <p:cNvSpPr>
            <a:spLocks noGrp="1"/>
          </p:cNvSpPr>
          <p:nvPr/>
        </p:nvSpPr>
        <p:spPr>
          <a:xfrm>
            <a:off x="704850" y="4133850"/>
            <a:ext cx="1771650" cy="361950"/>
          </a:xfrm>
          <a:prstGeom prst="rect">
            <a:avLst/>
          </a:prstGeom>
          <a:solidFill>
            <a:srgbClr val="102236"/>
          </a:solidFill>
          <a:ln w="9525">
            <a:solidFill>
              <a:srgbClr val="8EA3B8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10EBEC6-3569-475B-97B5-8050E8627ADF}"/>
              </a:ext>
            </a:extLst>
          </p:cNvPr>
          <p:cNvSpPr>
            <a:spLocks noGrp="1"/>
          </p:cNvSpPr>
          <p:nvPr/>
        </p:nvSpPr>
        <p:spPr>
          <a:xfrm>
            <a:off x="838200" y="4200525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8EA3B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EA3B8"/>
                </a:solidFill>
                <a:latin typeface="Aptos"/>
                <a:ea typeface="Aptos"/>
                <a:cs typeface="Aptos"/>
              </a:rPr>
              <a:t>current quality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A8397CC-5DA1-4664-A576-5B58EAD32CF6}"/>
              </a:ext>
            </a:extLst>
          </p:cNvPr>
          <p:cNvSpPr>
            <a:spLocks noGrp="1"/>
          </p:cNvSpPr>
          <p:nvPr/>
        </p:nvSpPr>
        <p:spPr>
          <a:xfrm>
            <a:off x="4953000" y="2724150"/>
            <a:ext cx="2381250" cy="1390650"/>
          </a:xfrm>
          <a:prstGeom prst="rect">
            <a:avLst/>
          </a:prstGeom>
          <a:solidFill>
            <a:srgbClr val="12263A"/>
          </a:solidFill>
          <a:ln w="19050">
            <a:solidFill>
              <a:srgbClr val="B7F16A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03B36F2-90F6-43E4-BBA8-6D3895DE9AE5}"/>
              </a:ext>
            </a:extLst>
          </p:cNvPr>
          <p:cNvSpPr>
            <a:spLocks noGrp="1"/>
          </p:cNvSpPr>
          <p:nvPr/>
        </p:nvSpPr>
        <p:spPr>
          <a:xfrm>
            <a:off x="5219700" y="3028950"/>
            <a:ext cx="18478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250" b="1">
                <a:solidFill>
                  <a:srgbClr val="B7F16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B7F16A"/>
                </a:solidFill>
                <a:latin typeface="Aptos Display"/>
                <a:ea typeface="Aptos Display"/>
                <a:cs typeface="Aptos Display"/>
              </a:rPr>
              <a:t>Random Forest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EB29B1B-82AF-44B5-9810-C0047CF678FB}"/>
              </a:ext>
            </a:extLst>
          </p:cNvPr>
          <p:cNvSpPr>
            <a:spLocks noGrp="1"/>
          </p:cNvSpPr>
          <p:nvPr/>
        </p:nvSpPr>
        <p:spPr>
          <a:xfrm>
            <a:off x="5257800" y="3486150"/>
            <a:ext cx="17716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6F2EA"/>
                </a:solidFill>
                <a:latin typeface="Aptos"/>
                <a:ea typeface="Aptos"/>
                <a:cs typeface="Aptos"/>
              </a:rPr>
              <a:t>180 trees, max depth 8, balanced classes</a:t>
            </a:r>
          </a:p>
        </p:txBody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553591CD-64E8-4987-AEBC-924EE1EFF5A0}"/>
              </a:ext>
            </a:extLst>
          </p:cNvPr>
          <p:cNvSpPr>
            <a:spLocks noGrp="1"/>
          </p:cNvSpPr>
          <p:nvPr/>
        </p:nvSpPr>
        <p:spPr>
          <a:xfrm>
            <a:off x="4457700" y="3429000"/>
            <a:ext cx="457200" cy="0"/>
          </a:xfrm>
          <a:prstGeom prst="line">
            <a:avLst/>
          </a:prstGeom>
          <a:solidFill>
            <a:srgbClr val="000000">
              <a:alpha val="0"/>
            </a:srgbClr>
          </a:solidFill>
          <a:ln w="19050">
            <a:solidFill>
              <a:srgbClr val="8EA3B8"/>
            </a:solidFill>
            <a:prstDash val="solid"/>
          </a:ln>
        </p:spPr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8CA9F109-3C93-4F55-B21D-F2802CC1A873}"/>
              </a:ext>
            </a:extLst>
          </p:cNvPr>
          <p:cNvSpPr>
            <a:spLocks noGrp="1"/>
          </p:cNvSpPr>
          <p:nvPr/>
        </p:nvSpPr>
        <p:spPr>
          <a:xfrm>
            <a:off x="4857750" y="3381375"/>
            <a:ext cx="95250" cy="95250"/>
          </a:xfrm>
          <a:prstGeom prst="triangle">
            <a:avLst/>
          </a:prstGeom>
          <a:solidFill>
            <a:srgbClr val="8EA3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D7D20029-1E1B-4718-B71B-4F37C6AB3B31}"/>
              </a:ext>
            </a:extLst>
          </p:cNvPr>
          <p:cNvSpPr>
            <a:spLocks noGrp="1"/>
          </p:cNvSpPr>
          <p:nvPr/>
        </p:nvSpPr>
        <p:spPr>
          <a:xfrm>
            <a:off x="7372350" y="3429000"/>
            <a:ext cx="457200" cy="0"/>
          </a:xfrm>
          <a:prstGeom prst="line">
            <a:avLst/>
          </a:prstGeom>
          <a:solidFill>
            <a:srgbClr val="000000">
              <a:alpha val="0"/>
            </a:srgbClr>
          </a:solidFill>
          <a:ln w="19050">
            <a:solidFill>
              <a:srgbClr val="8EA3B8"/>
            </a:solidFill>
            <a:prstDash val="solid"/>
          </a:ln>
        </p:spPr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8421A28A-67CA-4FA9-9F2D-0069398C6824}"/>
              </a:ext>
            </a:extLst>
          </p:cNvPr>
          <p:cNvSpPr>
            <a:spLocks noGrp="1"/>
          </p:cNvSpPr>
          <p:nvPr/>
        </p:nvSpPr>
        <p:spPr>
          <a:xfrm>
            <a:off x="7772400" y="3381375"/>
            <a:ext cx="95250" cy="95250"/>
          </a:xfrm>
          <a:prstGeom prst="triangle">
            <a:avLst/>
          </a:prstGeom>
          <a:solidFill>
            <a:srgbClr val="8EA3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36CCFC8-50B4-4804-A8D2-01F6C6A14ADE}"/>
              </a:ext>
            </a:extLst>
          </p:cNvPr>
          <p:cNvSpPr>
            <a:spLocks noGrp="1"/>
          </p:cNvSpPr>
          <p:nvPr/>
        </p:nvSpPr>
        <p:spPr>
          <a:xfrm>
            <a:off x="8077200" y="2247900"/>
            <a:ext cx="2000250" cy="457200"/>
          </a:xfrm>
          <a:prstGeom prst="rect">
            <a:avLst/>
          </a:prstGeom>
          <a:solidFill>
            <a:srgbClr val="102236"/>
          </a:solidFill>
          <a:ln w="9525">
            <a:solidFill>
              <a:srgbClr val="8EA3B8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49F9B57-B063-42F5-AC39-7FBFEC1C8C3B}"/>
              </a:ext>
            </a:extLst>
          </p:cNvPr>
          <p:cNvSpPr>
            <a:spLocks noGrp="1"/>
          </p:cNvSpPr>
          <p:nvPr/>
        </p:nvSpPr>
        <p:spPr>
          <a:xfrm>
            <a:off x="8286750" y="2333625"/>
            <a:ext cx="685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rPr>
              <a:t>240p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E258760-756A-48BB-AFB9-8F6F2F8F193C}"/>
              </a:ext>
            </a:extLst>
          </p:cNvPr>
          <p:cNvSpPr>
            <a:spLocks noGrp="1"/>
          </p:cNvSpPr>
          <p:nvPr/>
        </p:nvSpPr>
        <p:spPr>
          <a:xfrm>
            <a:off x="9163050" y="2362200"/>
            <a:ext cx="609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8EA3B8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8EA3B8"/>
                </a:solidFill>
                <a:latin typeface="Aptos Mono"/>
                <a:ea typeface="Aptos Mono"/>
                <a:cs typeface="Aptos Mono"/>
              </a:rPr>
              <a:t>400k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F28F9A3-4FEE-4D7E-8307-D2A3949E48FC}"/>
              </a:ext>
            </a:extLst>
          </p:cNvPr>
          <p:cNvSpPr>
            <a:spLocks noGrp="1"/>
          </p:cNvSpPr>
          <p:nvPr/>
        </p:nvSpPr>
        <p:spPr>
          <a:xfrm>
            <a:off x="8077200" y="2933700"/>
            <a:ext cx="2000250" cy="457200"/>
          </a:xfrm>
          <a:prstGeom prst="rect">
            <a:avLst/>
          </a:prstGeom>
          <a:solidFill>
            <a:srgbClr val="36D1DC"/>
          </a:solidFill>
          <a:ln w="9525">
            <a:solidFill>
              <a:srgbClr val="36D1DC"/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378C523-A185-4183-9497-B85DE488FF07}"/>
              </a:ext>
            </a:extLst>
          </p:cNvPr>
          <p:cNvSpPr>
            <a:spLocks noGrp="1"/>
          </p:cNvSpPr>
          <p:nvPr/>
        </p:nvSpPr>
        <p:spPr>
          <a:xfrm>
            <a:off x="8286750" y="3019425"/>
            <a:ext cx="685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360p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FC9B1EC-944A-485D-848A-0C928B7336AD}"/>
              </a:ext>
            </a:extLst>
          </p:cNvPr>
          <p:cNvSpPr>
            <a:spLocks noGrp="1"/>
          </p:cNvSpPr>
          <p:nvPr/>
        </p:nvSpPr>
        <p:spPr>
          <a:xfrm>
            <a:off x="9163050" y="3048000"/>
            <a:ext cx="609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08111F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08111F"/>
                </a:solidFill>
                <a:latin typeface="Aptos Mono"/>
                <a:ea typeface="Aptos Mono"/>
                <a:cs typeface="Aptos Mono"/>
              </a:rPr>
              <a:t>1000k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6E46E50-6371-4744-AECB-29240AD3C8F6}"/>
              </a:ext>
            </a:extLst>
          </p:cNvPr>
          <p:cNvSpPr>
            <a:spLocks noGrp="1"/>
          </p:cNvSpPr>
          <p:nvPr/>
        </p:nvSpPr>
        <p:spPr>
          <a:xfrm>
            <a:off x="8077200" y="3619500"/>
            <a:ext cx="2000250" cy="457200"/>
          </a:xfrm>
          <a:prstGeom prst="rect">
            <a:avLst/>
          </a:prstGeom>
          <a:solidFill>
            <a:srgbClr val="102236"/>
          </a:solidFill>
          <a:ln w="9525">
            <a:solidFill>
              <a:srgbClr val="8EA3B8"/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A9B2CC1-204F-41C1-9C97-1ACA569A9528}"/>
              </a:ext>
            </a:extLst>
          </p:cNvPr>
          <p:cNvSpPr>
            <a:spLocks noGrp="1"/>
          </p:cNvSpPr>
          <p:nvPr/>
        </p:nvSpPr>
        <p:spPr>
          <a:xfrm>
            <a:off x="8286750" y="3705225"/>
            <a:ext cx="685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rPr>
              <a:t>720p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2620F81-20CF-4FD3-A603-2239D7FFB13D}"/>
              </a:ext>
            </a:extLst>
          </p:cNvPr>
          <p:cNvSpPr>
            <a:spLocks noGrp="1"/>
          </p:cNvSpPr>
          <p:nvPr/>
        </p:nvSpPr>
        <p:spPr>
          <a:xfrm>
            <a:off x="9163050" y="3733800"/>
            <a:ext cx="609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8EA3B8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8EA3B8"/>
                </a:solidFill>
                <a:latin typeface="Aptos Mono"/>
                <a:ea typeface="Aptos Mono"/>
                <a:cs typeface="Aptos Mono"/>
              </a:rPr>
              <a:t>2500k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37C4E38-32A4-434A-9141-175B3E06B0DD}"/>
              </a:ext>
            </a:extLst>
          </p:cNvPr>
          <p:cNvSpPr>
            <a:spLocks noGrp="1"/>
          </p:cNvSpPr>
          <p:nvPr/>
        </p:nvSpPr>
        <p:spPr>
          <a:xfrm>
            <a:off x="8077200" y="4305300"/>
            <a:ext cx="2000250" cy="457200"/>
          </a:xfrm>
          <a:prstGeom prst="rect">
            <a:avLst/>
          </a:prstGeom>
          <a:solidFill>
            <a:srgbClr val="102236"/>
          </a:solidFill>
          <a:ln w="9525">
            <a:solidFill>
              <a:srgbClr val="8EA3B8"/>
            </a:solidFill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AD950F3-26F3-4A72-A021-2405040E8FF0}"/>
              </a:ext>
            </a:extLst>
          </p:cNvPr>
          <p:cNvSpPr>
            <a:spLocks noGrp="1"/>
          </p:cNvSpPr>
          <p:nvPr/>
        </p:nvSpPr>
        <p:spPr>
          <a:xfrm>
            <a:off x="8286750" y="4391025"/>
            <a:ext cx="685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rPr>
              <a:t>1080p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013E452-BE84-49CF-8EF6-F7C90871DB0B}"/>
              </a:ext>
            </a:extLst>
          </p:cNvPr>
          <p:cNvSpPr>
            <a:spLocks noGrp="1"/>
          </p:cNvSpPr>
          <p:nvPr/>
        </p:nvSpPr>
        <p:spPr>
          <a:xfrm>
            <a:off x="9163050" y="4419600"/>
            <a:ext cx="609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8EA3B8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8EA3B8"/>
                </a:solidFill>
                <a:latin typeface="Aptos Mono"/>
                <a:ea typeface="Aptos Mono"/>
                <a:cs typeface="Aptos Mono"/>
              </a:rPr>
              <a:t>6000k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FE959A6-5ECD-4966-BF40-55ABEEA1D691}"/>
              </a:ext>
            </a:extLst>
          </p:cNvPr>
          <p:cNvSpPr>
            <a:spLocks noGrp="1"/>
          </p:cNvSpPr>
          <p:nvPr/>
        </p:nvSpPr>
        <p:spPr>
          <a:xfrm>
            <a:off x="723900" y="5334000"/>
            <a:ext cx="8858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8EA3B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8EA3B8"/>
                </a:solidFill>
                <a:latin typeface="Aptos"/>
                <a:ea typeface="Aptos"/>
                <a:cs typeface="Aptos"/>
              </a:rPr>
              <a:t>Prediction returns quality label, bitrate, confidence, accuracy, and a human-readable reason such as low buffer or packet loss.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B6E5802-96CC-425E-9048-EF102BD1ADA2}"/>
              </a:ext>
            </a:extLst>
          </p:cNvPr>
          <p:cNvSpPr>
            <a:spLocks noGrp="1"/>
          </p:cNvSpPr>
          <p:nvPr/>
        </p:nvSpPr>
        <p:spPr>
          <a:xfrm>
            <a:off x="514350" y="6438900"/>
            <a:ext cx="723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E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EA3B8"/>
                </a:solidFill>
                <a:latin typeface="Aptos"/>
                <a:ea typeface="Aptos"/>
                <a:cs typeface="Aptos"/>
              </a:rPr>
              <a:t>Source: ai_model.py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A599E7B-BEFC-41F2-B903-2694DC5C4B74}"/>
              </a:ext>
            </a:extLst>
          </p:cNvPr>
          <p:cNvSpPr>
            <a:spLocks noGrp="1"/>
          </p:cNvSpPr>
          <p:nvPr/>
        </p:nvSpPr>
        <p:spPr>
          <a:xfrm>
            <a:off x="11163300" y="6438900"/>
            <a:ext cx="514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8EA3B8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8EA3B8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878627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2165BFCA-2552-4AE6-8C2D-8F69F40C103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11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4A2FB38E-8812-4D70-83D3-1AE69B3F5FCB}"/>
              </a:ext>
            </a:extLst>
          </p:cNvPr>
          <p:cNvSpPr>
            <a:spLocks noGrp="1"/>
          </p:cNvSpPr>
          <p:nvPr/>
        </p:nvSpPr>
        <p:spPr>
          <a:xfrm>
            <a:off x="533400" y="400050"/>
            <a:ext cx="95250" cy="95250"/>
          </a:xfrm>
          <a:prstGeom prst="rect">
            <a:avLst/>
          </a:prstGeom>
          <a:solidFill>
            <a:srgbClr val="FFD1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FAF5836B-0A19-486C-A897-AA325F5C652B}"/>
              </a:ext>
            </a:extLst>
          </p:cNvPr>
          <p:cNvSpPr>
            <a:spLocks noGrp="1"/>
          </p:cNvSpPr>
          <p:nvPr/>
        </p:nvSpPr>
        <p:spPr>
          <a:xfrm>
            <a:off x="723900" y="333375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FFD16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D166"/>
                </a:solidFill>
                <a:latin typeface="Aptos"/>
                <a:ea typeface="Aptos"/>
                <a:cs typeface="Aptos"/>
              </a:rPr>
              <a:t>RUNTIME CONTROL LOOP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3290D5-8511-4BAE-9EED-EA201BE9E6F0}"/>
              </a:ext>
            </a:extLst>
          </p:cNvPr>
          <p:cNvSpPr>
            <a:spLocks noGrp="1"/>
          </p:cNvSpPr>
          <p:nvPr/>
        </p:nvSpPr>
        <p:spPr>
          <a:xfrm>
            <a:off x="514350" y="723900"/>
            <a:ext cx="781050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rPr>
              <a:t>Every two seconds, playback evidence becomes a new quality decision.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DFD466-0000-4ABE-9505-590526DA67CA}"/>
              </a:ext>
            </a:extLst>
          </p:cNvPr>
          <p:cNvSpPr>
            <a:spLocks noGrp="1"/>
          </p:cNvSpPr>
          <p:nvPr/>
        </p:nvSpPr>
        <p:spPr>
          <a:xfrm>
            <a:off x="685800" y="3028950"/>
            <a:ext cx="2095500" cy="1181100"/>
          </a:xfrm>
          <a:prstGeom prst="rect">
            <a:avLst/>
          </a:prstGeom>
          <a:solidFill>
            <a:srgbClr val="102236"/>
          </a:solidFill>
          <a:ln w="9525">
            <a:solidFill>
              <a:srgbClr val="8EA3B8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7AA6CE-A965-4560-B89F-837554561A9A}"/>
              </a:ext>
            </a:extLst>
          </p:cNvPr>
          <p:cNvSpPr>
            <a:spLocks noGrp="1"/>
          </p:cNvSpPr>
          <p:nvPr/>
        </p:nvSpPr>
        <p:spPr>
          <a:xfrm>
            <a:off x="876300" y="3238500"/>
            <a:ext cx="361950" cy="361950"/>
          </a:xfrm>
          <a:prstGeom prst="rect">
            <a:avLst/>
          </a:prstGeom>
          <a:solidFill>
            <a:srgbClr val="36D1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FABA7AC-E42A-4157-B0A3-E36BB6DA621D}"/>
              </a:ext>
            </a:extLst>
          </p:cNvPr>
          <p:cNvSpPr>
            <a:spLocks noGrp="1"/>
          </p:cNvSpPr>
          <p:nvPr/>
        </p:nvSpPr>
        <p:spPr>
          <a:xfrm>
            <a:off x="876300" y="3305175"/>
            <a:ext cx="361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08111F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08111F"/>
                </a:solidFill>
                <a:latin typeface="Aptos Mono"/>
                <a:ea typeface="Aptos Mono"/>
                <a:cs typeface="Aptos Mono"/>
              </a:rPr>
              <a:t>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6438A5-04FB-4D7A-851E-0E5CD06FCCC7}"/>
              </a:ext>
            </a:extLst>
          </p:cNvPr>
          <p:cNvSpPr>
            <a:spLocks noGrp="1"/>
          </p:cNvSpPr>
          <p:nvPr/>
        </p:nvSpPr>
        <p:spPr>
          <a:xfrm>
            <a:off x="1390650" y="3238500"/>
            <a:ext cx="114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rPr>
              <a:t>Measure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24FCEC2-5490-42A7-96CA-F9CAFF4BBA8C}"/>
              </a:ext>
            </a:extLst>
          </p:cNvPr>
          <p:cNvSpPr>
            <a:spLocks noGrp="1"/>
          </p:cNvSpPr>
          <p:nvPr/>
        </p:nvSpPr>
        <p:spPr>
          <a:xfrm>
            <a:off x="1390650" y="3619500"/>
            <a:ext cx="1143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8E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8EA3B8"/>
                </a:solidFill>
                <a:latin typeface="Aptos"/>
                <a:ea typeface="Aptos"/>
                <a:cs typeface="Aptos"/>
              </a:rPr>
              <a:t>throughput, latency, buffer, loss, jitter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FAA7B687-67ED-404A-BA3B-0C851170002E}"/>
              </a:ext>
            </a:extLst>
          </p:cNvPr>
          <p:cNvSpPr>
            <a:spLocks noGrp="1"/>
          </p:cNvSpPr>
          <p:nvPr/>
        </p:nvSpPr>
        <p:spPr>
          <a:xfrm>
            <a:off x="2819400" y="3619500"/>
            <a:ext cx="552450" cy="0"/>
          </a:xfrm>
          <a:prstGeom prst="lin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D166"/>
            </a:solidFill>
            <a:prstDash val="solid"/>
          </a:ln>
        </p:spPr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1F6BEDAA-2D65-4888-87C4-74C7239C9C78}"/>
              </a:ext>
            </a:extLst>
          </p:cNvPr>
          <p:cNvSpPr>
            <a:spLocks noGrp="1"/>
          </p:cNvSpPr>
          <p:nvPr/>
        </p:nvSpPr>
        <p:spPr>
          <a:xfrm>
            <a:off x="3314700" y="3571875"/>
            <a:ext cx="95250" cy="95250"/>
          </a:xfrm>
          <a:prstGeom prst="triangle">
            <a:avLst/>
          </a:prstGeom>
          <a:solidFill>
            <a:srgbClr val="FFD1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2193BE-F402-4A25-9C41-8596283E5B1A}"/>
              </a:ext>
            </a:extLst>
          </p:cNvPr>
          <p:cNvSpPr>
            <a:spLocks noGrp="1"/>
          </p:cNvSpPr>
          <p:nvPr/>
        </p:nvSpPr>
        <p:spPr>
          <a:xfrm>
            <a:off x="3467100" y="3028950"/>
            <a:ext cx="2095500" cy="1181100"/>
          </a:xfrm>
          <a:prstGeom prst="rect">
            <a:avLst/>
          </a:prstGeom>
          <a:solidFill>
            <a:srgbClr val="102236"/>
          </a:solidFill>
          <a:ln w="9525">
            <a:solidFill>
              <a:srgbClr val="B7F16A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A0B7CD3-56A0-47C9-9A94-4EAA39CEB078}"/>
              </a:ext>
            </a:extLst>
          </p:cNvPr>
          <p:cNvSpPr>
            <a:spLocks noGrp="1"/>
          </p:cNvSpPr>
          <p:nvPr/>
        </p:nvSpPr>
        <p:spPr>
          <a:xfrm>
            <a:off x="3657600" y="3238500"/>
            <a:ext cx="361950" cy="361950"/>
          </a:xfrm>
          <a:prstGeom prst="rect">
            <a:avLst/>
          </a:prstGeom>
          <a:solidFill>
            <a:srgbClr val="B7F1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0DA98D9-6B23-43AF-8848-C36522FC20AD}"/>
              </a:ext>
            </a:extLst>
          </p:cNvPr>
          <p:cNvSpPr>
            <a:spLocks noGrp="1"/>
          </p:cNvSpPr>
          <p:nvPr/>
        </p:nvSpPr>
        <p:spPr>
          <a:xfrm>
            <a:off x="3657600" y="3305175"/>
            <a:ext cx="361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08111F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08111F"/>
                </a:solidFill>
                <a:latin typeface="Aptos Mono"/>
                <a:ea typeface="Aptos Mono"/>
                <a:cs typeface="Aptos Mono"/>
              </a:rPr>
              <a:t>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183C0F1-6734-41E6-8043-4E685B2415B4}"/>
              </a:ext>
            </a:extLst>
          </p:cNvPr>
          <p:cNvSpPr>
            <a:spLocks noGrp="1"/>
          </p:cNvSpPr>
          <p:nvPr/>
        </p:nvSpPr>
        <p:spPr>
          <a:xfrm>
            <a:off x="4171950" y="3238500"/>
            <a:ext cx="114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rPr>
              <a:t>Predict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70BE37E-12A2-4356-861A-B1F3E78C3113}"/>
              </a:ext>
            </a:extLst>
          </p:cNvPr>
          <p:cNvSpPr>
            <a:spLocks noGrp="1"/>
          </p:cNvSpPr>
          <p:nvPr/>
        </p:nvSpPr>
        <p:spPr>
          <a:xfrm>
            <a:off x="4171950" y="3619500"/>
            <a:ext cx="1143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8E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8EA3B8"/>
                </a:solidFill>
                <a:latin typeface="Aptos"/>
                <a:ea typeface="Aptos"/>
                <a:cs typeface="Aptos"/>
              </a:rPr>
              <a:t>POST /api/predict to Flask model</a:t>
            </a:r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77892B3A-E527-403F-AA0D-D230100DEBB9}"/>
              </a:ext>
            </a:extLst>
          </p:cNvPr>
          <p:cNvSpPr>
            <a:spLocks noGrp="1"/>
          </p:cNvSpPr>
          <p:nvPr/>
        </p:nvSpPr>
        <p:spPr>
          <a:xfrm>
            <a:off x="5600700" y="3619500"/>
            <a:ext cx="552450" cy="0"/>
          </a:xfrm>
          <a:prstGeom prst="lin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D166"/>
            </a:solidFill>
            <a:prstDash val="solid"/>
          </a:ln>
        </p:spPr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5BD91343-594A-4D88-B89C-7B6BC9BA7B67}"/>
              </a:ext>
            </a:extLst>
          </p:cNvPr>
          <p:cNvSpPr>
            <a:spLocks noGrp="1"/>
          </p:cNvSpPr>
          <p:nvPr/>
        </p:nvSpPr>
        <p:spPr>
          <a:xfrm>
            <a:off x="6096000" y="3571875"/>
            <a:ext cx="95250" cy="95250"/>
          </a:xfrm>
          <a:prstGeom prst="triangle">
            <a:avLst/>
          </a:prstGeom>
          <a:solidFill>
            <a:srgbClr val="FFD1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1BC23E7-8AF5-4DC8-B432-31CFC9EDE4C5}"/>
              </a:ext>
            </a:extLst>
          </p:cNvPr>
          <p:cNvSpPr>
            <a:spLocks noGrp="1"/>
          </p:cNvSpPr>
          <p:nvPr/>
        </p:nvSpPr>
        <p:spPr>
          <a:xfrm>
            <a:off x="6248400" y="3028950"/>
            <a:ext cx="2095500" cy="1181100"/>
          </a:xfrm>
          <a:prstGeom prst="rect">
            <a:avLst/>
          </a:prstGeom>
          <a:solidFill>
            <a:srgbClr val="102236"/>
          </a:solidFill>
          <a:ln w="9525">
            <a:solidFill>
              <a:srgbClr val="8EA3B8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7C21C25-19C5-4D6D-BA09-16A7CB80A80F}"/>
              </a:ext>
            </a:extLst>
          </p:cNvPr>
          <p:cNvSpPr>
            <a:spLocks noGrp="1"/>
          </p:cNvSpPr>
          <p:nvPr/>
        </p:nvSpPr>
        <p:spPr>
          <a:xfrm>
            <a:off x="6438900" y="3238500"/>
            <a:ext cx="361950" cy="361950"/>
          </a:xfrm>
          <a:prstGeom prst="rect">
            <a:avLst/>
          </a:prstGeom>
          <a:solidFill>
            <a:srgbClr val="36D1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63CD37E-670C-466C-8F66-B240275571EA}"/>
              </a:ext>
            </a:extLst>
          </p:cNvPr>
          <p:cNvSpPr>
            <a:spLocks noGrp="1"/>
          </p:cNvSpPr>
          <p:nvPr/>
        </p:nvSpPr>
        <p:spPr>
          <a:xfrm>
            <a:off x="6438900" y="3305175"/>
            <a:ext cx="361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08111F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08111F"/>
                </a:solidFill>
                <a:latin typeface="Aptos Mono"/>
                <a:ea typeface="Aptos Mono"/>
                <a:cs typeface="Aptos Mono"/>
              </a:rPr>
              <a:t>3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CF5D3D1-D884-4113-BFC9-113E72C15B18}"/>
              </a:ext>
            </a:extLst>
          </p:cNvPr>
          <p:cNvSpPr>
            <a:spLocks noGrp="1"/>
          </p:cNvSpPr>
          <p:nvPr/>
        </p:nvSpPr>
        <p:spPr>
          <a:xfrm>
            <a:off x="6953250" y="3238500"/>
            <a:ext cx="114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rPr>
              <a:t>Apply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16E9005-7FE6-4333-9959-0DBE2A45C8C8}"/>
              </a:ext>
            </a:extLst>
          </p:cNvPr>
          <p:cNvSpPr>
            <a:spLocks noGrp="1"/>
          </p:cNvSpPr>
          <p:nvPr/>
        </p:nvSpPr>
        <p:spPr>
          <a:xfrm>
            <a:off x="6953250" y="3619500"/>
            <a:ext cx="1143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8E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8EA3B8"/>
                </a:solidFill>
                <a:latin typeface="Aptos"/>
                <a:ea typeface="Aptos"/>
                <a:cs typeface="Aptos"/>
              </a:rPr>
              <a:t>dash.js quality set to selected index</a:t>
            </a:r>
          </a:p>
        </p:txBody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251809C2-EBA5-46A9-B982-8C38F34BF088}"/>
              </a:ext>
            </a:extLst>
          </p:cNvPr>
          <p:cNvSpPr>
            <a:spLocks noGrp="1"/>
          </p:cNvSpPr>
          <p:nvPr/>
        </p:nvSpPr>
        <p:spPr>
          <a:xfrm>
            <a:off x="8382000" y="3619500"/>
            <a:ext cx="552450" cy="0"/>
          </a:xfrm>
          <a:prstGeom prst="lin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D166"/>
            </a:solidFill>
            <a:prstDash val="solid"/>
          </a:ln>
        </p:spPr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60B98F1E-EAC3-4E90-9CB0-8E170647526D}"/>
              </a:ext>
            </a:extLst>
          </p:cNvPr>
          <p:cNvSpPr>
            <a:spLocks noGrp="1"/>
          </p:cNvSpPr>
          <p:nvPr/>
        </p:nvSpPr>
        <p:spPr>
          <a:xfrm>
            <a:off x="8877300" y="3571875"/>
            <a:ext cx="95250" cy="95250"/>
          </a:xfrm>
          <a:prstGeom prst="triangle">
            <a:avLst/>
          </a:prstGeom>
          <a:solidFill>
            <a:srgbClr val="FFD1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E0C2D00-000D-4FD2-A1DE-86CD6DEF77EB}"/>
              </a:ext>
            </a:extLst>
          </p:cNvPr>
          <p:cNvSpPr>
            <a:spLocks noGrp="1"/>
          </p:cNvSpPr>
          <p:nvPr/>
        </p:nvSpPr>
        <p:spPr>
          <a:xfrm>
            <a:off x="9029700" y="3028950"/>
            <a:ext cx="2095500" cy="1181100"/>
          </a:xfrm>
          <a:prstGeom prst="rect">
            <a:avLst/>
          </a:prstGeom>
          <a:solidFill>
            <a:srgbClr val="102236"/>
          </a:solidFill>
          <a:ln w="9525">
            <a:solidFill>
              <a:srgbClr val="8EA3B8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46D4781-F529-4701-8AE7-ABA03E78A880}"/>
              </a:ext>
            </a:extLst>
          </p:cNvPr>
          <p:cNvSpPr>
            <a:spLocks noGrp="1"/>
          </p:cNvSpPr>
          <p:nvPr/>
        </p:nvSpPr>
        <p:spPr>
          <a:xfrm>
            <a:off x="9220200" y="3238500"/>
            <a:ext cx="361950" cy="361950"/>
          </a:xfrm>
          <a:prstGeom prst="rect">
            <a:avLst/>
          </a:prstGeom>
          <a:solidFill>
            <a:srgbClr val="36D1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067AB56-5081-42A8-ADFE-7C13182C8167}"/>
              </a:ext>
            </a:extLst>
          </p:cNvPr>
          <p:cNvSpPr>
            <a:spLocks noGrp="1"/>
          </p:cNvSpPr>
          <p:nvPr/>
        </p:nvSpPr>
        <p:spPr>
          <a:xfrm>
            <a:off x="9220200" y="3305175"/>
            <a:ext cx="361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08111F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08111F"/>
                </a:solidFill>
                <a:latin typeface="Aptos Mono"/>
                <a:ea typeface="Aptos Mono"/>
                <a:cs typeface="Aptos Mono"/>
              </a:rPr>
              <a:t>4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F2C9268-1C47-4832-B67A-9397F6BC8F15}"/>
              </a:ext>
            </a:extLst>
          </p:cNvPr>
          <p:cNvSpPr>
            <a:spLocks noGrp="1"/>
          </p:cNvSpPr>
          <p:nvPr/>
        </p:nvSpPr>
        <p:spPr>
          <a:xfrm>
            <a:off x="9734550" y="3238500"/>
            <a:ext cx="114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rPr>
              <a:t>Log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866D5EF-7831-4459-ABF1-16D0949DD256}"/>
              </a:ext>
            </a:extLst>
          </p:cNvPr>
          <p:cNvSpPr>
            <a:spLocks noGrp="1"/>
          </p:cNvSpPr>
          <p:nvPr/>
        </p:nvSpPr>
        <p:spPr>
          <a:xfrm>
            <a:off x="9734550" y="3619500"/>
            <a:ext cx="1143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8E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8EA3B8"/>
                </a:solidFill>
                <a:latin typeface="Aptos"/>
                <a:ea typeface="Aptos"/>
                <a:cs typeface="Aptos"/>
              </a:rPr>
              <a:t>append metrics and reason to CSV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5F73955-B07F-457F-B45B-880BA1DB2657}"/>
              </a:ext>
            </a:extLst>
          </p:cNvPr>
          <p:cNvSpPr>
            <a:spLocks noGrp="1"/>
          </p:cNvSpPr>
          <p:nvPr/>
        </p:nvSpPr>
        <p:spPr>
          <a:xfrm>
            <a:off x="685800" y="4762500"/>
            <a:ext cx="10058400" cy="628650"/>
          </a:xfrm>
          <a:prstGeom prst="rect">
            <a:avLst/>
          </a:prstGeom>
          <a:solidFill>
            <a:srgbClr val="132A42"/>
          </a:solidFill>
          <a:ln w="9525">
            <a:solidFill>
              <a:srgbClr val="FFD166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116B3CB-5E8C-4D4E-8C96-566B7CAE28C2}"/>
              </a:ext>
            </a:extLst>
          </p:cNvPr>
          <p:cNvSpPr>
            <a:spLocks noGrp="1"/>
          </p:cNvSpPr>
          <p:nvPr/>
        </p:nvSpPr>
        <p:spPr>
          <a:xfrm>
            <a:off x="952500" y="4933950"/>
            <a:ext cx="11239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FFD166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FD166"/>
                </a:solidFill>
                <a:latin typeface="Aptos Display"/>
                <a:ea typeface="Aptos Display"/>
                <a:cs typeface="Aptos Display"/>
              </a:rPr>
              <a:t>2s loop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3437BBC-D89F-469A-ADF8-9D65D2C03634}"/>
              </a:ext>
            </a:extLst>
          </p:cNvPr>
          <p:cNvSpPr>
            <a:spLocks noGrp="1"/>
          </p:cNvSpPr>
          <p:nvPr/>
        </p:nvSpPr>
        <p:spPr>
          <a:xfrm>
            <a:off x="2266950" y="4953000"/>
            <a:ext cx="8001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6F2EA"/>
                </a:solidFill>
                <a:latin typeface="Aptos"/>
                <a:ea typeface="Aptos"/>
                <a:cs typeface="Aptos"/>
              </a:rPr>
              <a:t>AI enabled: dash.js auto ABR is disabled and the predicted level is applied. AI disabled: normal dash.js ABR is used for comparison.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4A085C5-B300-45AB-8714-DF0F55DE2041}"/>
              </a:ext>
            </a:extLst>
          </p:cNvPr>
          <p:cNvSpPr>
            <a:spLocks noGrp="1"/>
          </p:cNvSpPr>
          <p:nvPr/>
        </p:nvSpPr>
        <p:spPr>
          <a:xfrm>
            <a:off x="514350" y="6438900"/>
            <a:ext cx="723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E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EA3B8"/>
                </a:solidFill>
                <a:latin typeface="Aptos"/>
                <a:ea typeface="Aptos"/>
                <a:cs typeface="Aptos"/>
              </a:rPr>
              <a:t>Source: static/js/player.js controlLoop()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131D768-E26D-4CB8-8A2F-4C594B837A79}"/>
              </a:ext>
            </a:extLst>
          </p:cNvPr>
          <p:cNvSpPr>
            <a:spLocks noGrp="1"/>
          </p:cNvSpPr>
          <p:nvPr/>
        </p:nvSpPr>
        <p:spPr>
          <a:xfrm>
            <a:off x="11163300" y="6438900"/>
            <a:ext cx="514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8EA3B8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8EA3B8"/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669292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D2037702-E696-47B1-AF4D-15D6F519C8C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2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48E82592-F9B3-44BE-8533-ECB85DDB71E2}"/>
              </a:ext>
            </a:extLst>
          </p:cNvPr>
          <p:cNvSpPr>
            <a:spLocks noGrp="1"/>
          </p:cNvSpPr>
          <p:nvPr/>
        </p:nvSpPr>
        <p:spPr>
          <a:xfrm>
            <a:off x="533400" y="400050"/>
            <a:ext cx="95250" cy="95250"/>
          </a:xfrm>
          <a:prstGeom prst="rect">
            <a:avLst/>
          </a:prstGeom>
          <a:solidFill>
            <a:srgbClr val="36D1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277DBF8C-1688-4AC5-B141-F1971F3A39D4}"/>
              </a:ext>
            </a:extLst>
          </p:cNvPr>
          <p:cNvSpPr>
            <a:spLocks noGrp="1"/>
          </p:cNvSpPr>
          <p:nvPr/>
        </p:nvSpPr>
        <p:spPr>
          <a:xfrm>
            <a:off x="723900" y="333375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36D1D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6D1DC"/>
                </a:solidFill>
                <a:latin typeface="Aptos"/>
                <a:ea typeface="Aptos"/>
                <a:cs typeface="Aptos"/>
              </a:rPr>
              <a:t>DEMO DASHBOARD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3D48F76-01D3-434E-94F9-1E70E7E74FC1}"/>
              </a:ext>
            </a:extLst>
          </p:cNvPr>
          <p:cNvSpPr>
            <a:spLocks noGrp="1"/>
          </p:cNvSpPr>
          <p:nvPr/>
        </p:nvSpPr>
        <p:spPr>
          <a:xfrm>
            <a:off x="514350" y="723900"/>
            <a:ext cx="781050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The browser UI makes adaptive streaming observable and testable.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7E026EF-AE6C-4D81-A395-2B36B9305E63}"/>
              </a:ext>
            </a:extLst>
          </p:cNvPr>
          <p:cNvSpPr>
            <a:spLocks noGrp="1"/>
          </p:cNvSpPr>
          <p:nvPr/>
        </p:nvSpPr>
        <p:spPr>
          <a:xfrm>
            <a:off x="742950" y="2362200"/>
            <a:ext cx="285750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2D8DE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F05550-D1B4-48A9-8713-ABDFC8618D7D}"/>
              </a:ext>
            </a:extLst>
          </p:cNvPr>
          <p:cNvSpPr>
            <a:spLocks noGrp="1"/>
          </p:cNvSpPr>
          <p:nvPr/>
        </p:nvSpPr>
        <p:spPr>
          <a:xfrm>
            <a:off x="914400" y="2533650"/>
            <a:ext cx="2476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Video player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7EDB36-0C93-4A30-A069-DD1FFBD4B80E}"/>
              </a:ext>
            </a:extLst>
          </p:cNvPr>
          <p:cNvSpPr>
            <a:spLocks noGrp="1"/>
          </p:cNvSpPr>
          <p:nvPr/>
        </p:nvSpPr>
        <p:spPr>
          <a:xfrm>
            <a:off x="914400" y="2876550"/>
            <a:ext cx="2381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467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4677C"/>
                </a:solidFill>
                <a:latin typeface="Aptos"/>
                <a:ea typeface="Aptos"/>
                <a:cs typeface="Aptos"/>
              </a:rPr>
              <a:t>plays the generated DASH manifest with dash.js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3E5D7A4-92D9-425D-82CC-F96D718FC264}"/>
              </a:ext>
            </a:extLst>
          </p:cNvPr>
          <p:cNvSpPr>
            <a:spLocks noGrp="1"/>
          </p:cNvSpPr>
          <p:nvPr/>
        </p:nvSpPr>
        <p:spPr>
          <a:xfrm>
            <a:off x="4286250" y="2362200"/>
            <a:ext cx="2857500" cy="990600"/>
          </a:xfrm>
          <a:prstGeom prst="rect">
            <a:avLst/>
          </a:prstGeom>
          <a:solidFill>
            <a:srgbClr val="DDF8EA"/>
          </a:solidFill>
          <a:ln w="9525">
            <a:solidFill>
              <a:srgbClr val="B7F16A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140B589-483B-469C-8375-7D8341DE929D}"/>
              </a:ext>
            </a:extLst>
          </p:cNvPr>
          <p:cNvSpPr>
            <a:spLocks noGrp="1"/>
          </p:cNvSpPr>
          <p:nvPr/>
        </p:nvSpPr>
        <p:spPr>
          <a:xfrm>
            <a:off x="4457700" y="2533650"/>
            <a:ext cx="2476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AI toggle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8DCC241-0C22-4C9D-9EEB-E14CEBD4FF5D}"/>
              </a:ext>
            </a:extLst>
          </p:cNvPr>
          <p:cNvSpPr>
            <a:spLocks noGrp="1"/>
          </p:cNvSpPr>
          <p:nvPr/>
        </p:nvSpPr>
        <p:spPr>
          <a:xfrm>
            <a:off x="4457700" y="2876550"/>
            <a:ext cx="2381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467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4677C"/>
                </a:solidFill>
                <a:latin typeface="Aptos"/>
                <a:ea typeface="Aptos"/>
                <a:cs typeface="Aptos"/>
              </a:rPr>
              <a:t>switches between ML control and normal dash.js ABR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19C4F2B-7F11-496A-9E5E-2677F37F426C}"/>
              </a:ext>
            </a:extLst>
          </p:cNvPr>
          <p:cNvSpPr>
            <a:spLocks noGrp="1"/>
          </p:cNvSpPr>
          <p:nvPr/>
        </p:nvSpPr>
        <p:spPr>
          <a:xfrm>
            <a:off x="7829550" y="2362200"/>
            <a:ext cx="285750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2D8DE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8F5162D-3CE3-4B0B-BE89-AFF8C6564875}"/>
              </a:ext>
            </a:extLst>
          </p:cNvPr>
          <p:cNvSpPr>
            <a:spLocks noGrp="1"/>
          </p:cNvSpPr>
          <p:nvPr/>
        </p:nvSpPr>
        <p:spPr>
          <a:xfrm>
            <a:off x="8001000" y="2533650"/>
            <a:ext cx="2476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Network profiles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AC37A35-4FC7-4CE0-9A0A-7E01164E4B5F}"/>
              </a:ext>
            </a:extLst>
          </p:cNvPr>
          <p:cNvSpPr>
            <a:spLocks noGrp="1"/>
          </p:cNvSpPr>
          <p:nvPr/>
        </p:nvSpPr>
        <p:spPr>
          <a:xfrm>
            <a:off x="8001000" y="2876550"/>
            <a:ext cx="2381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467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4677C"/>
                </a:solidFill>
                <a:latin typeface="Aptos"/>
                <a:ea typeface="Aptos"/>
                <a:cs typeface="Aptos"/>
              </a:rPr>
              <a:t>stable, medium, poor, and lossy conditions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BF2D0B4-DB3F-40B8-8605-E6028E46FD6E}"/>
              </a:ext>
            </a:extLst>
          </p:cNvPr>
          <p:cNvSpPr>
            <a:spLocks noGrp="1"/>
          </p:cNvSpPr>
          <p:nvPr/>
        </p:nvSpPr>
        <p:spPr>
          <a:xfrm>
            <a:off x="742950" y="3714750"/>
            <a:ext cx="285750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2D8DE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F402566-9DEE-41EB-8E55-859A7E882216}"/>
              </a:ext>
            </a:extLst>
          </p:cNvPr>
          <p:cNvSpPr>
            <a:spLocks noGrp="1"/>
          </p:cNvSpPr>
          <p:nvPr/>
        </p:nvSpPr>
        <p:spPr>
          <a:xfrm>
            <a:off x="914400" y="3886200"/>
            <a:ext cx="2476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Live charts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4378577-80AC-4A67-B11A-211543866266}"/>
              </a:ext>
            </a:extLst>
          </p:cNvPr>
          <p:cNvSpPr>
            <a:spLocks noGrp="1"/>
          </p:cNvSpPr>
          <p:nvPr/>
        </p:nvSpPr>
        <p:spPr>
          <a:xfrm>
            <a:off x="914400" y="4229100"/>
            <a:ext cx="2381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467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4677C"/>
                </a:solidFill>
                <a:latin typeface="Aptos"/>
                <a:ea typeface="Aptos"/>
                <a:cs typeface="Aptos"/>
              </a:rPr>
              <a:t>throughput, bitrate, buffer, and latency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7E3089F-058C-487E-A0F8-3D0FABFFBD51}"/>
              </a:ext>
            </a:extLst>
          </p:cNvPr>
          <p:cNvSpPr>
            <a:spLocks noGrp="1"/>
          </p:cNvSpPr>
          <p:nvPr/>
        </p:nvSpPr>
        <p:spPr>
          <a:xfrm>
            <a:off x="4286250" y="3714750"/>
            <a:ext cx="285750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2D8DE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EC1BED8-73A2-4493-8474-A3D203FAD71D}"/>
              </a:ext>
            </a:extLst>
          </p:cNvPr>
          <p:cNvSpPr>
            <a:spLocks noGrp="1"/>
          </p:cNvSpPr>
          <p:nvPr/>
        </p:nvSpPr>
        <p:spPr>
          <a:xfrm>
            <a:off x="4457700" y="3886200"/>
            <a:ext cx="2476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Decision reason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9F811B0-CA10-4F98-BF60-60141E5F18B1}"/>
              </a:ext>
            </a:extLst>
          </p:cNvPr>
          <p:cNvSpPr>
            <a:spLocks noGrp="1"/>
          </p:cNvSpPr>
          <p:nvPr/>
        </p:nvSpPr>
        <p:spPr>
          <a:xfrm>
            <a:off x="4457700" y="4229100"/>
            <a:ext cx="2381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467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4677C"/>
                </a:solidFill>
                <a:latin typeface="Aptos"/>
                <a:ea typeface="Aptos"/>
                <a:cs typeface="Aptos"/>
              </a:rPr>
              <a:t>shows stable network, low buffer, limited throughput, or packet loss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E3E36C4-71F4-4D7F-B5B9-E93A0DEFD47E}"/>
              </a:ext>
            </a:extLst>
          </p:cNvPr>
          <p:cNvSpPr>
            <a:spLocks noGrp="1"/>
          </p:cNvSpPr>
          <p:nvPr/>
        </p:nvSpPr>
        <p:spPr>
          <a:xfrm>
            <a:off x="7829550" y="3714750"/>
            <a:ext cx="285750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2D8DE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A30739C-E053-48E2-83DC-E18EECA1307D}"/>
              </a:ext>
            </a:extLst>
          </p:cNvPr>
          <p:cNvSpPr>
            <a:spLocks noGrp="1"/>
          </p:cNvSpPr>
          <p:nvPr/>
        </p:nvSpPr>
        <p:spPr>
          <a:xfrm>
            <a:off x="8001000" y="3886200"/>
            <a:ext cx="2476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Session logging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437E69F-F446-407A-8561-43B31B2E4298}"/>
              </a:ext>
            </a:extLst>
          </p:cNvPr>
          <p:cNvSpPr>
            <a:spLocks noGrp="1"/>
          </p:cNvSpPr>
          <p:nvPr/>
        </p:nvSpPr>
        <p:spPr>
          <a:xfrm>
            <a:off x="8001000" y="4229100"/>
            <a:ext cx="2381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467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4677C"/>
                </a:solidFill>
                <a:latin typeface="Aptos"/>
                <a:ea typeface="Aptos"/>
                <a:cs typeface="Aptos"/>
              </a:rPr>
              <a:t>saves every decision for later result graphs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D10418D-EF40-4D4F-A4F6-A814BCF8A618}"/>
              </a:ext>
            </a:extLst>
          </p:cNvPr>
          <p:cNvSpPr>
            <a:spLocks noGrp="1"/>
          </p:cNvSpPr>
          <p:nvPr/>
        </p:nvSpPr>
        <p:spPr>
          <a:xfrm>
            <a:off x="742950" y="5543550"/>
            <a:ext cx="6477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4677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4677C"/>
                </a:solidFill>
                <a:latin typeface="Aptos"/>
                <a:ea typeface="Aptos"/>
                <a:cs typeface="Aptos"/>
              </a:rPr>
              <a:t>This is a working project surface, not a static simulation.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9CE6646-E5B1-4519-9BEF-6FB182E9553F}"/>
              </a:ext>
            </a:extLst>
          </p:cNvPr>
          <p:cNvSpPr>
            <a:spLocks noGrp="1"/>
          </p:cNvSpPr>
          <p:nvPr/>
        </p:nvSpPr>
        <p:spPr>
          <a:xfrm>
            <a:off x="514350" y="6438900"/>
            <a:ext cx="723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E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EA3B8"/>
                </a:solidFill>
                <a:latin typeface="Aptos"/>
                <a:ea typeface="Aptos"/>
                <a:cs typeface="Aptos"/>
              </a:rPr>
              <a:t>Source: templates/index.html and static/js/player.js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0217309-8C3D-47B6-A7E2-326C8660301A}"/>
              </a:ext>
            </a:extLst>
          </p:cNvPr>
          <p:cNvSpPr>
            <a:spLocks noGrp="1"/>
          </p:cNvSpPr>
          <p:nvPr/>
        </p:nvSpPr>
        <p:spPr>
          <a:xfrm>
            <a:off x="11163300" y="6438900"/>
            <a:ext cx="514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8EA3B8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8EA3B8"/>
                </a:solidFill>
                <a:latin typeface="Aptos Mono"/>
                <a:ea typeface="Aptos Mono"/>
                <a:cs typeface="Aptos Mon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406232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BE8DA2B7-FBC1-4B0B-82C6-91243462032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2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C57D210E-5782-4FE7-8DF3-CA1CD7B7F06F}"/>
              </a:ext>
            </a:extLst>
          </p:cNvPr>
          <p:cNvSpPr>
            <a:spLocks noGrp="1"/>
          </p:cNvSpPr>
          <p:nvPr/>
        </p:nvSpPr>
        <p:spPr>
          <a:xfrm>
            <a:off x="533400" y="400050"/>
            <a:ext cx="95250" cy="95250"/>
          </a:xfrm>
          <a:prstGeom prst="rect">
            <a:avLst/>
          </a:prstGeom>
          <a:solidFill>
            <a:srgbClr val="B7F1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0F958F85-2405-4F09-8A5A-6E752105210A}"/>
              </a:ext>
            </a:extLst>
          </p:cNvPr>
          <p:cNvSpPr>
            <a:spLocks noGrp="1"/>
          </p:cNvSpPr>
          <p:nvPr/>
        </p:nvSpPr>
        <p:spPr>
          <a:xfrm>
            <a:off x="723900" y="333375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B7F16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7F16A"/>
                </a:solidFill>
                <a:latin typeface="Aptos"/>
                <a:ea typeface="Aptos"/>
                <a:cs typeface="Aptos"/>
              </a:rPr>
              <a:t>RESULTS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6441D20-390F-40AD-B7CD-585EC770BE84}"/>
              </a:ext>
            </a:extLst>
          </p:cNvPr>
          <p:cNvSpPr>
            <a:spLocks noGrp="1"/>
          </p:cNvSpPr>
          <p:nvPr/>
        </p:nvSpPr>
        <p:spPr>
          <a:xfrm>
            <a:off x="514350" y="723900"/>
            <a:ext cx="781050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Logged sessions show adaptive decisions under constrained network conditions.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ABBA78-F0CB-4183-8922-D475664639E9}"/>
              </a:ext>
            </a:extLst>
          </p:cNvPr>
          <p:cNvSpPr>
            <a:spLocks noGrp="1"/>
          </p:cNvSpPr>
          <p:nvPr/>
        </p:nvSpPr>
        <p:spPr>
          <a:xfrm>
            <a:off x="552450" y="1885950"/>
            <a:ext cx="1581150" cy="876300"/>
          </a:xfrm>
          <a:prstGeom prst="rect">
            <a:avLst/>
          </a:prstGeom>
          <a:solidFill>
            <a:srgbClr val="F6F2EA"/>
          </a:solidFill>
          <a:ln w="9525">
            <a:solidFill>
              <a:srgbClr val="FFD166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B8A27A8-C7EA-4B03-9F1A-E44F55FC0301}"/>
              </a:ext>
            </a:extLst>
          </p:cNvPr>
          <p:cNvSpPr>
            <a:spLocks noGrp="1"/>
          </p:cNvSpPr>
          <p:nvPr/>
        </p:nvSpPr>
        <p:spPr>
          <a:xfrm>
            <a:off x="723900" y="1981200"/>
            <a:ext cx="1238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FFD166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D166"/>
                </a:solidFill>
                <a:latin typeface="Aptos Display"/>
                <a:ea typeface="Aptos Display"/>
                <a:cs typeface="Aptos Display"/>
              </a:rPr>
              <a:t>177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B9F22D2-BD53-4F49-8239-6E0451315FB9}"/>
              </a:ext>
            </a:extLst>
          </p:cNvPr>
          <p:cNvSpPr>
            <a:spLocks noGrp="1"/>
          </p:cNvSpPr>
          <p:nvPr/>
        </p:nvSpPr>
        <p:spPr>
          <a:xfrm>
            <a:off x="723900" y="2371725"/>
            <a:ext cx="1238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4677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4677C"/>
                </a:solidFill>
                <a:latin typeface="Aptos"/>
                <a:ea typeface="Aptos"/>
                <a:cs typeface="Aptos"/>
              </a:rPr>
              <a:t>samples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0BE4F7-EB07-4405-BB2D-9FB61291BD74}"/>
              </a:ext>
            </a:extLst>
          </p:cNvPr>
          <p:cNvSpPr>
            <a:spLocks noGrp="1"/>
          </p:cNvSpPr>
          <p:nvPr/>
        </p:nvSpPr>
        <p:spPr>
          <a:xfrm>
            <a:off x="2286000" y="1885950"/>
            <a:ext cx="1581150" cy="876300"/>
          </a:xfrm>
          <a:prstGeom prst="rect">
            <a:avLst/>
          </a:prstGeom>
          <a:solidFill>
            <a:srgbClr val="F6F2EA"/>
          </a:solidFill>
          <a:ln w="9525">
            <a:solidFill>
              <a:srgbClr val="36D1DC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9EED13-AAA1-4761-A3D6-6F30FE2472F1}"/>
              </a:ext>
            </a:extLst>
          </p:cNvPr>
          <p:cNvSpPr>
            <a:spLocks noGrp="1"/>
          </p:cNvSpPr>
          <p:nvPr/>
        </p:nvSpPr>
        <p:spPr>
          <a:xfrm>
            <a:off x="2457450" y="1981200"/>
            <a:ext cx="1238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36D1DC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36D1DC"/>
                </a:solidFill>
                <a:latin typeface="Aptos Display"/>
                <a:ea typeface="Aptos Display"/>
                <a:cs typeface="Aptos Display"/>
              </a:rPr>
              <a:t>2.199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4DBAD1A-B6EC-46F7-89E8-695F0329B761}"/>
              </a:ext>
            </a:extLst>
          </p:cNvPr>
          <p:cNvSpPr>
            <a:spLocks noGrp="1"/>
          </p:cNvSpPr>
          <p:nvPr/>
        </p:nvSpPr>
        <p:spPr>
          <a:xfrm>
            <a:off x="2457450" y="2371725"/>
            <a:ext cx="1238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4677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4677C"/>
                </a:solidFill>
                <a:latin typeface="Aptos"/>
                <a:ea typeface="Aptos"/>
                <a:cs typeface="Aptos"/>
              </a:rPr>
              <a:t>avg throughput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0D870E0-EFC3-4668-BC97-EFAAA02B35A0}"/>
              </a:ext>
            </a:extLst>
          </p:cNvPr>
          <p:cNvSpPr>
            <a:spLocks noGrp="1"/>
          </p:cNvSpPr>
          <p:nvPr/>
        </p:nvSpPr>
        <p:spPr>
          <a:xfrm>
            <a:off x="4019550" y="1885950"/>
            <a:ext cx="1581150" cy="876300"/>
          </a:xfrm>
          <a:prstGeom prst="rect">
            <a:avLst/>
          </a:prstGeom>
          <a:solidFill>
            <a:srgbClr val="F6F2EA"/>
          </a:solidFill>
          <a:ln w="9525">
            <a:solidFill>
              <a:srgbClr val="B7F16A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035F6C9-0DD7-4DA1-BD36-C6F1DF350BD2}"/>
              </a:ext>
            </a:extLst>
          </p:cNvPr>
          <p:cNvSpPr>
            <a:spLocks noGrp="1"/>
          </p:cNvSpPr>
          <p:nvPr/>
        </p:nvSpPr>
        <p:spPr>
          <a:xfrm>
            <a:off x="4191000" y="1981200"/>
            <a:ext cx="1238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B7F16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B7F16A"/>
                </a:solidFill>
                <a:latin typeface="Aptos Display"/>
                <a:ea typeface="Aptos Display"/>
                <a:cs typeface="Aptos Display"/>
              </a:rPr>
              <a:t>10.255s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69F54DC-9F1E-4D8E-929F-7EA8771B9CAD}"/>
              </a:ext>
            </a:extLst>
          </p:cNvPr>
          <p:cNvSpPr>
            <a:spLocks noGrp="1"/>
          </p:cNvSpPr>
          <p:nvPr/>
        </p:nvSpPr>
        <p:spPr>
          <a:xfrm>
            <a:off x="4191000" y="2371725"/>
            <a:ext cx="1238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4677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4677C"/>
                </a:solidFill>
                <a:latin typeface="Aptos"/>
                <a:ea typeface="Aptos"/>
                <a:cs typeface="Aptos"/>
              </a:rPr>
              <a:t>avg buffer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EB47963-23B4-4C8C-95BD-F0927C820921}"/>
              </a:ext>
            </a:extLst>
          </p:cNvPr>
          <p:cNvSpPr>
            <a:spLocks noGrp="1"/>
          </p:cNvSpPr>
          <p:nvPr/>
        </p:nvSpPr>
        <p:spPr>
          <a:xfrm>
            <a:off x="5753100" y="1885950"/>
            <a:ext cx="1581150" cy="876300"/>
          </a:xfrm>
          <a:prstGeom prst="rect">
            <a:avLst/>
          </a:prstGeom>
          <a:solidFill>
            <a:srgbClr val="F6F2EA"/>
          </a:solidFill>
          <a:ln w="9525">
            <a:solidFill>
              <a:srgbClr val="FF6B5F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1B2EE22-78F8-48AA-8ABF-965E82BED6FE}"/>
              </a:ext>
            </a:extLst>
          </p:cNvPr>
          <p:cNvSpPr>
            <a:spLocks noGrp="1"/>
          </p:cNvSpPr>
          <p:nvPr/>
        </p:nvSpPr>
        <p:spPr>
          <a:xfrm>
            <a:off x="5924550" y="1981200"/>
            <a:ext cx="1238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FF6B5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6B5F"/>
                </a:solidFill>
                <a:latin typeface="Aptos Display"/>
                <a:ea typeface="Aptos Display"/>
                <a:cs typeface="Aptos Display"/>
              </a:rPr>
              <a:t>72.928ms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AC7DCDB-079A-4921-AAE3-47E6DB7706DB}"/>
              </a:ext>
            </a:extLst>
          </p:cNvPr>
          <p:cNvSpPr>
            <a:spLocks noGrp="1"/>
          </p:cNvSpPr>
          <p:nvPr/>
        </p:nvSpPr>
        <p:spPr>
          <a:xfrm>
            <a:off x="5924550" y="2371725"/>
            <a:ext cx="1238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4677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4677C"/>
                </a:solidFill>
                <a:latin typeface="Aptos"/>
                <a:ea typeface="Aptos"/>
                <a:cs typeface="Aptos"/>
              </a:rPr>
              <a:t>avg latency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947B363-DBC5-401C-9688-02189D69F3EB}"/>
              </a:ext>
            </a:extLst>
          </p:cNvPr>
          <p:cNvSpPr>
            <a:spLocks noGrp="1"/>
          </p:cNvSpPr>
          <p:nvPr/>
        </p:nvSpPr>
        <p:spPr>
          <a:xfrm>
            <a:off x="7486650" y="1885950"/>
            <a:ext cx="1581150" cy="876300"/>
          </a:xfrm>
          <a:prstGeom prst="rect">
            <a:avLst/>
          </a:prstGeom>
          <a:solidFill>
            <a:srgbClr val="F6F2EA"/>
          </a:solidFill>
          <a:ln w="9525">
            <a:solidFill>
              <a:srgbClr val="FFD166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F52FA23-7ADE-4751-B1B0-36E8564383E7}"/>
              </a:ext>
            </a:extLst>
          </p:cNvPr>
          <p:cNvSpPr>
            <a:spLocks noGrp="1"/>
          </p:cNvSpPr>
          <p:nvPr/>
        </p:nvSpPr>
        <p:spPr>
          <a:xfrm>
            <a:off x="7658100" y="1981200"/>
            <a:ext cx="1238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FFD166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D166"/>
                </a:solidFill>
                <a:latin typeface="Aptos Display"/>
                <a:ea typeface="Aptos Display"/>
                <a:cs typeface="Aptos Display"/>
              </a:rPr>
              <a:t>63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75DD7C9-9210-4ACA-B6B6-FC165A99C9FB}"/>
              </a:ext>
            </a:extLst>
          </p:cNvPr>
          <p:cNvSpPr>
            <a:spLocks noGrp="1"/>
          </p:cNvSpPr>
          <p:nvPr/>
        </p:nvSpPr>
        <p:spPr>
          <a:xfrm>
            <a:off x="7658100" y="2371725"/>
            <a:ext cx="1238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4677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4677C"/>
                </a:solidFill>
                <a:latin typeface="Aptos"/>
                <a:ea typeface="Aptos"/>
                <a:cs typeface="Aptos"/>
              </a:rPr>
              <a:t>low-buffer events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E5C8696-7BD9-4D4B-9324-30B1248C8074}"/>
              </a:ext>
            </a:extLst>
          </p:cNvPr>
          <p:cNvSpPr>
            <a:spLocks noGrp="1"/>
          </p:cNvSpPr>
          <p:nvPr/>
        </p:nvSpPr>
        <p:spPr>
          <a:xfrm>
            <a:off x="9220200" y="1885950"/>
            <a:ext cx="1581150" cy="876300"/>
          </a:xfrm>
          <a:prstGeom prst="rect">
            <a:avLst/>
          </a:prstGeom>
          <a:solidFill>
            <a:srgbClr val="F6F2EA"/>
          </a:solidFill>
          <a:ln w="9525">
            <a:solidFill>
              <a:srgbClr val="36D1DC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B3FF5AD-2C4F-48FC-A372-41AA664EF723}"/>
              </a:ext>
            </a:extLst>
          </p:cNvPr>
          <p:cNvSpPr>
            <a:spLocks noGrp="1"/>
          </p:cNvSpPr>
          <p:nvPr/>
        </p:nvSpPr>
        <p:spPr>
          <a:xfrm>
            <a:off x="9391650" y="1981200"/>
            <a:ext cx="1238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36D1DC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36D1DC"/>
                </a:solidFill>
                <a:latin typeface="Aptos Display"/>
                <a:ea typeface="Aptos Display"/>
                <a:cs typeface="Aptos Display"/>
              </a:rPr>
              <a:t>0.882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BAE7224-1A0E-4C82-95BD-6D759F95C8D8}"/>
              </a:ext>
            </a:extLst>
          </p:cNvPr>
          <p:cNvSpPr>
            <a:spLocks noGrp="1"/>
          </p:cNvSpPr>
          <p:nvPr/>
        </p:nvSpPr>
        <p:spPr>
          <a:xfrm>
            <a:off x="9391650" y="2371725"/>
            <a:ext cx="1238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4677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4677C"/>
                </a:solidFill>
                <a:latin typeface="Aptos"/>
                <a:ea typeface="Aptos"/>
                <a:cs typeface="Aptos"/>
              </a:rPr>
              <a:t>avg confidence</a:t>
            </a: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19150" y="3314700"/>
            <a:ext cx="4762500" cy="1905000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419850" y="3314700"/>
            <a:ext cx="4762500" cy="190500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3ABF5993-102A-4407-9766-FE2CCB53CDA0}"/>
              </a:ext>
            </a:extLst>
          </p:cNvPr>
          <p:cNvSpPr>
            <a:spLocks noGrp="1"/>
          </p:cNvSpPr>
          <p:nvPr/>
        </p:nvSpPr>
        <p:spPr>
          <a:xfrm>
            <a:off x="819150" y="5467350"/>
            <a:ext cx="8858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4677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4677C"/>
                </a:solidFill>
                <a:latin typeface="Aptos"/>
                <a:ea typeface="Aptos"/>
                <a:cs typeface="Aptos"/>
              </a:rPr>
              <a:t>Quality selection changes as measured throughput varies, while AI confidence remains high on average.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3ED8FA3-3B1B-4456-B278-5EA77B0BE7DE}"/>
              </a:ext>
            </a:extLst>
          </p:cNvPr>
          <p:cNvSpPr>
            <a:spLocks noGrp="1"/>
          </p:cNvSpPr>
          <p:nvPr/>
        </p:nvSpPr>
        <p:spPr>
          <a:xfrm>
            <a:off x="514350" y="6438900"/>
            <a:ext cx="723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E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EA3B8"/>
                </a:solidFill>
                <a:latin typeface="Aptos"/>
                <a:ea typeface="Aptos"/>
                <a:cs typeface="Aptos"/>
              </a:rPr>
              <a:t>Source: results/qos_summary.csv, results/bandwidth_vs_time.png, results/bitrate_vs_time.png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643C6AF-A1E2-4DEF-9BF7-AD0C9F5BBC5D}"/>
              </a:ext>
            </a:extLst>
          </p:cNvPr>
          <p:cNvSpPr>
            <a:spLocks noGrp="1"/>
          </p:cNvSpPr>
          <p:nvPr/>
        </p:nvSpPr>
        <p:spPr>
          <a:xfrm>
            <a:off x="11163300" y="6438900"/>
            <a:ext cx="514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8EA3B8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8EA3B8"/>
                </a:solidFill>
                <a:latin typeface="Aptos Mono"/>
                <a:ea typeface="Aptos Mono"/>
                <a:cs typeface="Aptos Mon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395660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510B0BA6-BB4C-45C3-A7C7-04908237652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11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E8EB051F-4511-4860-9BDF-551B0461CBA5}"/>
              </a:ext>
            </a:extLst>
          </p:cNvPr>
          <p:cNvSpPr>
            <a:spLocks noGrp="1"/>
          </p:cNvSpPr>
          <p:nvPr/>
        </p:nvSpPr>
        <p:spPr>
          <a:xfrm>
            <a:off x="533400" y="400050"/>
            <a:ext cx="95250" cy="95250"/>
          </a:xfrm>
          <a:prstGeom prst="rect">
            <a:avLst/>
          </a:prstGeom>
          <a:solidFill>
            <a:srgbClr val="FFD1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79E64EF3-04BD-4CF5-AA71-BE83A00B0250}"/>
              </a:ext>
            </a:extLst>
          </p:cNvPr>
          <p:cNvSpPr>
            <a:spLocks noGrp="1"/>
          </p:cNvSpPr>
          <p:nvPr/>
        </p:nvSpPr>
        <p:spPr>
          <a:xfrm>
            <a:off x="723900" y="333375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FFD16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D166"/>
                </a:solidFill>
                <a:latin typeface="Aptos"/>
                <a:ea typeface="Aptos"/>
                <a:cs typeface="Aptos"/>
              </a:rPr>
              <a:t>DEMO SCRIPT + NEXT STEPS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27CB14E-9D28-4D35-B370-402A79C83CA4}"/>
              </a:ext>
            </a:extLst>
          </p:cNvPr>
          <p:cNvSpPr>
            <a:spLocks noGrp="1"/>
          </p:cNvSpPr>
          <p:nvPr/>
        </p:nvSpPr>
        <p:spPr>
          <a:xfrm>
            <a:off x="514350" y="723900"/>
            <a:ext cx="781050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rPr>
              <a:t>The project is ready to demonstrate as a controlled QoS experiment.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EAF7C2-5041-4002-B225-2B1ECB8983B1}"/>
              </a:ext>
            </a:extLst>
          </p:cNvPr>
          <p:cNvSpPr>
            <a:spLocks noGrp="1"/>
          </p:cNvSpPr>
          <p:nvPr/>
        </p:nvSpPr>
        <p:spPr>
          <a:xfrm>
            <a:off x="781050" y="2209800"/>
            <a:ext cx="323850" cy="323850"/>
          </a:xfrm>
          <a:prstGeom prst="rect">
            <a:avLst/>
          </a:prstGeom>
          <a:solidFill>
            <a:srgbClr val="B7F1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FE1F3F7-6664-4740-BAB0-C3FB47DDBCB8}"/>
              </a:ext>
            </a:extLst>
          </p:cNvPr>
          <p:cNvSpPr>
            <a:spLocks noGrp="1"/>
          </p:cNvSpPr>
          <p:nvPr/>
        </p:nvSpPr>
        <p:spPr>
          <a:xfrm>
            <a:off x="781050" y="2266950"/>
            <a:ext cx="323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08111F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08111F"/>
                </a:solidFill>
                <a:latin typeface="Aptos Mono"/>
                <a:ea typeface="Aptos Mono"/>
                <a:cs typeface="Aptos Mono"/>
              </a:rPr>
              <a:t>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86762B-EA6F-4F81-AFA1-37A7E32CFAC4}"/>
              </a:ext>
            </a:extLst>
          </p:cNvPr>
          <p:cNvSpPr>
            <a:spLocks noGrp="1"/>
          </p:cNvSpPr>
          <p:nvPr/>
        </p:nvSpPr>
        <p:spPr>
          <a:xfrm>
            <a:off x="1257300" y="224790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6F2EA"/>
                </a:solidFill>
                <a:latin typeface="Aptos"/>
                <a:ea typeface="Aptos"/>
                <a:cs typeface="Aptos"/>
              </a:rPr>
              <a:t>Start Flask server and open the dashboard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925DD3-1967-47BB-98D4-6FD9ED7C0237}"/>
              </a:ext>
            </a:extLst>
          </p:cNvPr>
          <p:cNvSpPr>
            <a:spLocks noGrp="1"/>
          </p:cNvSpPr>
          <p:nvPr/>
        </p:nvSpPr>
        <p:spPr>
          <a:xfrm>
            <a:off x="781050" y="2724150"/>
            <a:ext cx="323850" cy="323850"/>
          </a:xfrm>
          <a:prstGeom prst="rect">
            <a:avLst/>
          </a:prstGeom>
          <a:solidFill>
            <a:srgbClr val="B7F1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547AA9B-5884-4DFF-9DBB-AC0BEFA6935D}"/>
              </a:ext>
            </a:extLst>
          </p:cNvPr>
          <p:cNvSpPr>
            <a:spLocks noGrp="1"/>
          </p:cNvSpPr>
          <p:nvPr/>
        </p:nvSpPr>
        <p:spPr>
          <a:xfrm>
            <a:off x="781050" y="2781300"/>
            <a:ext cx="323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08111F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08111F"/>
                </a:solidFill>
                <a:latin typeface="Aptos Mono"/>
                <a:ea typeface="Aptos Mono"/>
                <a:cs typeface="Aptos Mono"/>
              </a:rPr>
              <a:t>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89B709-794C-41E8-BB8F-E2E21CA1C200}"/>
              </a:ext>
            </a:extLst>
          </p:cNvPr>
          <p:cNvSpPr>
            <a:spLocks noGrp="1"/>
          </p:cNvSpPr>
          <p:nvPr/>
        </p:nvSpPr>
        <p:spPr>
          <a:xfrm>
            <a:off x="1257300" y="276225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6F2EA"/>
                </a:solidFill>
                <a:latin typeface="Aptos"/>
                <a:ea typeface="Aptos"/>
                <a:cs typeface="Aptos"/>
              </a:rPr>
              <a:t>Play the generated DASH stream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A9F74D-8813-4E4A-A777-C4E174EF5284}"/>
              </a:ext>
            </a:extLst>
          </p:cNvPr>
          <p:cNvSpPr>
            <a:spLocks noGrp="1"/>
          </p:cNvSpPr>
          <p:nvPr/>
        </p:nvSpPr>
        <p:spPr>
          <a:xfrm>
            <a:off x="781050" y="3238500"/>
            <a:ext cx="323850" cy="323850"/>
          </a:xfrm>
          <a:prstGeom prst="rect">
            <a:avLst/>
          </a:prstGeom>
          <a:solidFill>
            <a:srgbClr val="B7F1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0953D2D-6920-4731-9362-1F5A667C8A96}"/>
              </a:ext>
            </a:extLst>
          </p:cNvPr>
          <p:cNvSpPr>
            <a:spLocks noGrp="1"/>
          </p:cNvSpPr>
          <p:nvPr/>
        </p:nvSpPr>
        <p:spPr>
          <a:xfrm>
            <a:off x="781050" y="3295650"/>
            <a:ext cx="323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08111F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08111F"/>
                </a:solidFill>
                <a:latin typeface="Aptos Mono"/>
                <a:ea typeface="Aptos Mono"/>
                <a:cs typeface="Aptos Mono"/>
              </a:rPr>
              <a:t>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47AE224-2901-4546-85AF-1CF9B8FCB7CF}"/>
              </a:ext>
            </a:extLst>
          </p:cNvPr>
          <p:cNvSpPr>
            <a:spLocks noGrp="1"/>
          </p:cNvSpPr>
          <p:nvPr/>
        </p:nvSpPr>
        <p:spPr>
          <a:xfrm>
            <a:off x="1257300" y="327660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6F2EA"/>
                </a:solidFill>
                <a:latin typeface="Aptos"/>
                <a:ea typeface="Aptos"/>
                <a:cs typeface="Aptos"/>
              </a:rPr>
              <a:t>Switch network profile from stable to poor/lossy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6B6D4D1-5268-43F1-A7F1-BD5AED76F7A5}"/>
              </a:ext>
            </a:extLst>
          </p:cNvPr>
          <p:cNvSpPr>
            <a:spLocks noGrp="1"/>
          </p:cNvSpPr>
          <p:nvPr/>
        </p:nvSpPr>
        <p:spPr>
          <a:xfrm>
            <a:off x="781050" y="3752850"/>
            <a:ext cx="323850" cy="323850"/>
          </a:xfrm>
          <a:prstGeom prst="rect">
            <a:avLst/>
          </a:prstGeom>
          <a:solidFill>
            <a:srgbClr val="B7F1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060506-EBB3-4A2A-9912-7A3A59EEC595}"/>
              </a:ext>
            </a:extLst>
          </p:cNvPr>
          <p:cNvSpPr>
            <a:spLocks noGrp="1"/>
          </p:cNvSpPr>
          <p:nvPr/>
        </p:nvSpPr>
        <p:spPr>
          <a:xfrm>
            <a:off x="781050" y="3810000"/>
            <a:ext cx="323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08111F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08111F"/>
                </a:solidFill>
                <a:latin typeface="Aptos Mono"/>
                <a:ea typeface="Aptos Mono"/>
                <a:cs typeface="Aptos Mono"/>
              </a:rPr>
              <a:t>4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1FC5470-FA7C-48B3-9509-7299BE7F2606}"/>
              </a:ext>
            </a:extLst>
          </p:cNvPr>
          <p:cNvSpPr>
            <a:spLocks noGrp="1"/>
          </p:cNvSpPr>
          <p:nvPr/>
        </p:nvSpPr>
        <p:spPr>
          <a:xfrm>
            <a:off x="1257300" y="379095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6F2EA"/>
                </a:solidFill>
                <a:latin typeface="Aptos"/>
                <a:ea typeface="Aptos"/>
                <a:cs typeface="Aptos"/>
              </a:rPr>
              <a:t>Show AI lowering bitrate before buffer collapse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17B5277-EB4C-46AC-837A-80CBEFABF04C}"/>
              </a:ext>
            </a:extLst>
          </p:cNvPr>
          <p:cNvSpPr>
            <a:spLocks noGrp="1"/>
          </p:cNvSpPr>
          <p:nvPr/>
        </p:nvSpPr>
        <p:spPr>
          <a:xfrm>
            <a:off x="781050" y="4267200"/>
            <a:ext cx="323850" cy="323850"/>
          </a:xfrm>
          <a:prstGeom prst="rect">
            <a:avLst/>
          </a:prstGeom>
          <a:solidFill>
            <a:srgbClr val="FFD1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D66A07B-108C-4885-925F-DAAAD784CFD6}"/>
              </a:ext>
            </a:extLst>
          </p:cNvPr>
          <p:cNvSpPr>
            <a:spLocks noGrp="1"/>
          </p:cNvSpPr>
          <p:nvPr/>
        </p:nvSpPr>
        <p:spPr>
          <a:xfrm>
            <a:off x="781050" y="4324350"/>
            <a:ext cx="323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08111F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08111F"/>
                </a:solidFill>
                <a:latin typeface="Aptos Mono"/>
                <a:ea typeface="Aptos Mono"/>
                <a:cs typeface="Aptos Mono"/>
              </a:rPr>
              <a:t>5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E9F077C-573C-413F-BF6B-39884020EDCF}"/>
              </a:ext>
            </a:extLst>
          </p:cNvPr>
          <p:cNvSpPr>
            <a:spLocks noGrp="1"/>
          </p:cNvSpPr>
          <p:nvPr/>
        </p:nvSpPr>
        <p:spPr>
          <a:xfrm>
            <a:off x="1257300" y="430530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6F2EA"/>
                </a:solidFill>
                <a:latin typeface="Aptos"/>
                <a:ea typeface="Aptos"/>
                <a:cs typeface="Aptos"/>
              </a:rPr>
              <a:t>Disable AI to compare normal dash.js ABR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D85A195-14BA-45C6-B5E2-39A840685C6C}"/>
              </a:ext>
            </a:extLst>
          </p:cNvPr>
          <p:cNvSpPr>
            <a:spLocks noGrp="1"/>
          </p:cNvSpPr>
          <p:nvPr/>
        </p:nvSpPr>
        <p:spPr>
          <a:xfrm>
            <a:off x="781050" y="4781550"/>
            <a:ext cx="323850" cy="323850"/>
          </a:xfrm>
          <a:prstGeom prst="rect">
            <a:avLst/>
          </a:prstGeom>
          <a:solidFill>
            <a:srgbClr val="FFD1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FC05DC7-EBEB-440D-AA75-675F4BB3832D}"/>
              </a:ext>
            </a:extLst>
          </p:cNvPr>
          <p:cNvSpPr>
            <a:spLocks noGrp="1"/>
          </p:cNvSpPr>
          <p:nvPr/>
        </p:nvSpPr>
        <p:spPr>
          <a:xfrm>
            <a:off x="781050" y="4838700"/>
            <a:ext cx="323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08111F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08111F"/>
                </a:solidFill>
                <a:latin typeface="Aptos Mono"/>
                <a:ea typeface="Aptos Mono"/>
                <a:cs typeface="Aptos Mono"/>
              </a:rPr>
              <a:t>6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A28F33A-830E-4544-BE2F-AA9B14BF8A11}"/>
              </a:ext>
            </a:extLst>
          </p:cNvPr>
          <p:cNvSpPr>
            <a:spLocks noGrp="1"/>
          </p:cNvSpPr>
          <p:nvPr/>
        </p:nvSpPr>
        <p:spPr>
          <a:xfrm>
            <a:off x="1257300" y="481965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6F2EA"/>
                </a:solidFill>
                <a:latin typeface="Aptos"/>
                <a:ea typeface="Aptos"/>
                <a:cs typeface="Aptos"/>
              </a:rPr>
              <a:t>Run analyze_results.py to produce graphs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D348EB2-8EE2-45F3-8E00-61F5ACE18CCC}"/>
              </a:ext>
            </a:extLst>
          </p:cNvPr>
          <p:cNvSpPr>
            <a:spLocks noGrp="1"/>
          </p:cNvSpPr>
          <p:nvPr/>
        </p:nvSpPr>
        <p:spPr>
          <a:xfrm>
            <a:off x="7239000" y="2209800"/>
            <a:ext cx="3429000" cy="2400300"/>
          </a:xfrm>
          <a:prstGeom prst="rect">
            <a:avLst/>
          </a:prstGeom>
          <a:solidFill>
            <a:srgbClr val="102236"/>
          </a:solidFill>
          <a:ln w="9525">
            <a:solidFill>
              <a:srgbClr val="36D1DC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F8A79BB-A3A5-4DE9-ADF6-CFF1E7674E96}"/>
              </a:ext>
            </a:extLst>
          </p:cNvPr>
          <p:cNvSpPr>
            <a:spLocks noGrp="1"/>
          </p:cNvSpPr>
          <p:nvPr/>
        </p:nvSpPr>
        <p:spPr>
          <a:xfrm>
            <a:off x="7543800" y="2495550"/>
            <a:ext cx="2857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36D1DC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36D1DC"/>
                </a:solidFill>
                <a:latin typeface="Aptos Display"/>
                <a:ea typeface="Aptos Display"/>
                <a:cs typeface="Aptos Display"/>
              </a:rPr>
              <a:t>Future improvements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BC189CC-8733-4609-ACE7-406A5203E627}"/>
              </a:ext>
            </a:extLst>
          </p:cNvPr>
          <p:cNvSpPr>
            <a:spLocks noGrp="1"/>
          </p:cNvSpPr>
          <p:nvPr/>
        </p:nvSpPr>
        <p:spPr>
          <a:xfrm>
            <a:off x="7543800" y="3028950"/>
            <a:ext cx="2762250" cy="1219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6F2EA"/>
                </a:solidFill>
                <a:latin typeface="Aptos"/>
                <a:ea typeface="Aptos"/>
                <a:cs typeface="Aptos"/>
              </a:rPr>
              <a:t>Train on real network traces</a:t>
            </a:r>
          </a:p>
          <a:p>
            <a:pPr algn="l">
              <a:defRPr sz="1350" b="0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6F2EA"/>
                </a:solidFill>
                <a:latin typeface="Aptos"/>
                <a:ea typeface="Aptos"/>
                <a:cs typeface="Aptos"/>
              </a:rPr>
              <a:t>Add VMAF/SSIM quality scoring</a:t>
            </a:r>
          </a:p>
          <a:p>
            <a:pPr algn="l">
              <a:defRPr sz="1350" b="0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6F2EA"/>
                </a:solidFill>
                <a:latin typeface="Aptos"/>
                <a:ea typeface="Aptos"/>
                <a:cs typeface="Aptos"/>
              </a:rPr>
              <a:t>Compare ML vs BOLA/throughput ABR</a:t>
            </a:r>
          </a:p>
          <a:p>
            <a:pPr algn="l">
              <a:defRPr sz="1350" b="0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6F2EA"/>
                </a:solidFill>
                <a:latin typeface="Aptos"/>
                <a:ea typeface="Aptos"/>
                <a:cs typeface="Aptos"/>
              </a:rPr>
              <a:t>Deploy local dash.js fallback</a:t>
            </a:r>
          </a:p>
          <a:p>
            <a:pPr algn="l">
              <a:defRPr sz="1350" b="0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6F2EA"/>
                </a:solidFill>
                <a:latin typeface="Aptos"/>
                <a:ea typeface="Aptos"/>
                <a:cs typeface="Aptos"/>
              </a:rPr>
              <a:t>Export richer per-profile reports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167723E-E259-4512-ADA0-EA31238918E9}"/>
              </a:ext>
            </a:extLst>
          </p:cNvPr>
          <p:cNvSpPr>
            <a:spLocks noGrp="1"/>
          </p:cNvSpPr>
          <p:nvPr/>
        </p:nvSpPr>
        <p:spPr>
          <a:xfrm>
            <a:off x="781050" y="5638800"/>
            <a:ext cx="8763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8EA3B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8EA3B8"/>
                </a:solidFill>
                <a:latin typeface="Aptos"/>
                <a:ea typeface="Aptos"/>
                <a:cs typeface="Aptos"/>
              </a:rPr>
              <a:t>Core achievement: real video packaging, real playback, live QoS telemetry, AI quality prediction, and result generation are connected end to end.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51B9039-4292-4550-B8A4-3390318630C2}"/>
              </a:ext>
            </a:extLst>
          </p:cNvPr>
          <p:cNvSpPr>
            <a:spLocks noGrp="1"/>
          </p:cNvSpPr>
          <p:nvPr/>
        </p:nvSpPr>
        <p:spPr>
          <a:xfrm>
            <a:off x="514350" y="6438900"/>
            <a:ext cx="723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E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EA3B8"/>
                </a:solidFill>
                <a:latin typeface="Aptos"/>
                <a:ea typeface="Aptos"/>
                <a:cs typeface="Aptos"/>
              </a:rPr>
              <a:t>Source: README.md demo script and project implementation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D86F1AA-7A28-414D-9B7C-ED7312B68A29}"/>
              </a:ext>
            </a:extLst>
          </p:cNvPr>
          <p:cNvSpPr>
            <a:spLocks noGrp="1"/>
          </p:cNvSpPr>
          <p:nvPr/>
        </p:nvSpPr>
        <p:spPr>
          <a:xfrm>
            <a:off x="11163300" y="6438900"/>
            <a:ext cx="514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8EA3B8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8EA3B8"/>
                </a:solidFill>
                <a:latin typeface="Aptos Mono"/>
                <a:ea typeface="Aptos Mono"/>
                <a:cs typeface="Aptos Mono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1251954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2BB386AC-618F-4D35-815B-05FD6C0F709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2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C4B66067-42A0-4B13-A03E-60FE6A235C1D}"/>
              </a:ext>
            </a:extLst>
          </p:cNvPr>
          <p:cNvSpPr>
            <a:spLocks noGrp="1"/>
          </p:cNvSpPr>
          <p:nvPr/>
        </p:nvSpPr>
        <p:spPr>
          <a:xfrm>
            <a:off x="533400" y="400050"/>
            <a:ext cx="95250" cy="95250"/>
          </a:xfrm>
          <a:prstGeom prst="rect">
            <a:avLst/>
          </a:prstGeom>
          <a:solidFill>
            <a:srgbClr val="FF6B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79F216AB-7DEB-4591-B9DA-E7715191A2E8}"/>
              </a:ext>
            </a:extLst>
          </p:cNvPr>
          <p:cNvSpPr>
            <a:spLocks noGrp="1"/>
          </p:cNvSpPr>
          <p:nvPr/>
        </p:nvSpPr>
        <p:spPr>
          <a:xfrm>
            <a:off x="723900" y="333375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FF6B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6B5F"/>
                </a:solidFill>
                <a:latin typeface="Aptos"/>
                <a:ea typeface="Aptos"/>
                <a:cs typeface="Aptos"/>
              </a:rPr>
              <a:t>NOVELTY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80BC7D-5710-49D7-8F78-1D2B593FBB41}"/>
              </a:ext>
            </a:extLst>
          </p:cNvPr>
          <p:cNvSpPr>
            <a:spLocks noGrp="1"/>
          </p:cNvSpPr>
          <p:nvPr/>
        </p:nvSpPr>
        <p:spPr>
          <a:xfrm>
            <a:off x="514350" y="723900"/>
            <a:ext cx="781050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Our new contribution is a hybrid ML + QoS-risk guard, not just another bitrate switch.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259DCE-720C-435E-9025-FA324EE474FA}"/>
              </a:ext>
            </a:extLst>
          </p:cNvPr>
          <p:cNvSpPr>
            <a:spLocks noGrp="1"/>
          </p:cNvSpPr>
          <p:nvPr/>
        </p:nvSpPr>
        <p:spPr>
          <a:xfrm>
            <a:off x="590550" y="2133600"/>
            <a:ext cx="2095500" cy="419100"/>
          </a:xfrm>
          <a:prstGeom prst="rect">
            <a:avLst/>
          </a:prstGeom>
          <a:solidFill>
            <a:srgbClr val="08111F"/>
          </a:solidFill>
          <a:ln w="9525">
            <a:solidFill>
              <a:srgbClr val="08111F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02E7B75-A927-453D-B8FC-B30ED884FB3D}"/>
              </a:ext>
            </a:extLst>
          </p:cNvPr>
          <p:cNvSpPr>
            <a:spLocks noGrp="1"/>
          </p:cNvSpPr>
          <p:nvPr/>
        </p:nvSpPr>
        <p:spPr>
          <a:xfrm>
            <a:off x="704850" y="2247900"/>
            <a:ext cx="1866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6F2EA"/>
                </a:solidFill>
                <a:latin typeface="Aptos"/>
                <a:ea typeface="Aptos"/>
                <a:cs typeface="Aptos"/>
              </a:rPr>
              <a:t>Existing method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1C5A1AC-E2F4-44A4-8620-A9E47CF5A520}"/>
              </a:ext>
            </a:extLst>
          </p:cNvPr>
          <p:cNvSpPr>
            <a:spLocks noGrp="1"/>
          </p:cNvSpPr>
          <p:nvPr/>
        </p:nvSpPr>
        <p:spPr>
          <a:xfrm>
            <a:off x="2686050" y="2133600"/>
            <a:ext cx="2476500" cy="419100"/>
          </a:xfrm>
          <a:prstGeom prst="rect">
            <a:avLst/>
          </a:prstGeom>
          <a:solidFill>
            <a:srgbClr val="08111F"/>
          </a:solidFill>
          <a:ln w="9525">
            <a:solidFill>
              <a:srgbClr val="08111F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B5E35EE-6238-4DF5-9E8F-BC14D16D2AD8}"/>
              </a:ext>
            </a:extLst>
          </p:cNvPr>
          <p:cNvSpPr>
            <a:spLocks noGrp="1"/>
          </p:cNvSpPr>
          <p:nvPr/>
        </p:nvSpPr>
        <p:spPr>
          <a:xfrm>
            <a:off x="2800350" y="2247900"/>
            <a:ext cx="2247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6F2EA"/>
                </a:solidFill>
                <a:latin typeface="Aptos"/>
                <a:ea typeface="Aptos"/>
                <a:cs typeface="Aptos"/>
              </a:rPr>
              <a:t>Decision basis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2DF660F-C8CC-4372-81DC-4CF47E3DF2A7}"/>
              </a:ext>
            </a:extLst>
          </p:cNvPr>
          <p:cNvSpPr>
            <a:spLocks noGrp="1"/>
          </p:cNvSpPr>
          <p:nvPr/>
        </p:nvSpPr>
        <p:spPr>
          <a:xfrm>
            <a:off x="5162550" y="2133600"/>
            <a:ext cx="2714625" cy="419100"/>
          </a:xfrm>
          <a:prstGeom prst="rect">
            <a:avLst/>
          </a:prstGeom>
          <a:solidFill>
            <a:srgbClr val="08111F"/>
          </a:solidFill>
          <a:ln w="9525">
            <a:solidFill>
              <a:srgbClr val="08111F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EF6665E-911F-4710-B3F6-50DDCC6AD250}"/>
              </a:ext>
            </a:extLst>
          </p:cNvPr>
          <p:cNvSpPr>
            <a:spLocks noGrp="1"/>
          </p:cNvSpPr>
          <p:nvPr/>
        </p:nvSpPr>
        <p:spPr>
          <a:xfrm>
            <a:off x="5276850" y="2247900"/>
            <a:ext cx="24860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6F2EA"/>
                </a:solidFill>
                <a:latin typeface="Aptos"/>
                <a:ea typeface="Aptos"/>
                <a:cs typeface="Aptos"/>
              </a:rPr>
              <a:t>Weakness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4E38F1C-9137-4174-81C9-D83CF7978FAA}"/>
              </a:ext>
            </a:extLst>
          </p:cNvPr>
          <p:cNvSpPr>
            <a:spLocks noGrp="1"/>
          </p:cNvSpPr>
          <p:nvPr/>
        </p:nvSpPr>
        <p:spPr>
          <a:xfrm>
            <a:off x="7877175" y="2133600"/>
            <a:ext cx="3143250" cy="419100"/>
          </a:xfrm>
          <a:prstGeom prst="rect">
            <a:avLst/>
          </a:prstGeom>
          <a:solidFill>
            <a:srgbClr val="08111F"/>
          </a:solidFill>
          <a:ln w="9525">
            <a:solidFill>
              <a:srgbClr val="08111F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845B887-2E2F-4ED3-B0FB-98F581189CA2}"/>
              </a:ext>
            </a:extLst>
          </p:cNvPr>
          <p:cNvSpPr>
            <a:spLocks noGrp="1"/>
          </p:cNvSpPr>
          <p:nvPr/>
        </p:nvSpPr>
        <p:spPr>
          <a:xfrm>
            <a:off x="7991475" y="2247900"/>
            <a:ext cx="29146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6F2EA"/>
                </a:solidFill>
                <a:latin typeface="Aptos"/>
                <a:ea typeface="Aptos"/>
                <a:cs typeface="Aptos"/>
              </a:rPr>
              <a:t>What we added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DB9F313-8857-477D-8FE5-DEDFAE9C7AE0}"/>
              </a:ext>
            </a:extLst>
          </p:cNvPr>
          <p:cNvSpPr>
            <a:spLocks noGrp="1"/>
          </p:cNvSpPr>
          <p:nvPr/>
        </p:nvSpPr>
        <p:spPr>
          <a:xfrm>
            <a:off x="590550" y="2552700"/>
            <a:ext cx="20955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2D8DE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12A7A64-2EFD-4252-BF2F-EECBCAC12EF7}"/>
              </a:ext>
            </a:extLst>
          </p:cNvPr>
          <p:cNvSpPr>
            <a:spLocks noGrp="1"/>
          </p:cNvSpPr>
          <p:nvPr/>
        </p:nvSpPr>
        <p:spPr>
          <a:xfrm>
            <a:off x="704850" y="2686050"/>
            <a:ext cx="1866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Throughput ABR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6E23BBA-8191-4AC7-99F5-0853CFE1BDBE}"/>
              </a:ext>
            </a:extLst>
          </p:cNvPr>
          <p:cNvSpPr>
            <a:spLocks noGrp="1"/>
          </p:cNvSpPr>
          <p:nvPr/>
        </p:nvSpPr>
        <p:spPr>
          <a:xfrm>
            <a:off x="2686050" y="2552700"/>
            <a:ext cx="24765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2D8DE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C3670C0-75D6-467C-AF19-9E1FABF2343C}"/>
              </a:ext>
            </a:extLst>
          </p:cNvPr>
          <p:cNvSpPr>
            <a:spLocks noGrp="1"/>
          </p:cNvSpPr>
          <p:nvPr/>
        </p:nvSpPr>
        <p:spPr>
          <a:xfrm>
            <a:off x="2800350" y="2686050"/>
            <a:ext cx="2247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8111F"/>
                </a:solidFill>
                <a:latin typeface="Aptos"/>
                <a:ea typeface="Aptos"/>
                <a:cs typeface="Aptos"/>
              </a:rPr>
              <a:t>recent bandwidth estimate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0B61B4F-D71B-4666-8140-52450CBCB31C}"/>
              </a:ext>
            </a:extLst>
          </p:cNvPr>
          <p:cNvSpPr>
            <a:spLocks noGrp="1"/>
          </p:cNvSpPr>
          <p:nvPr/>
        </p:nvSpPr>
        <p:spPr>
          <a:xfrm>
            <a:off x="5162550" y="2552700"/>
            <a:ext cx="2714625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2D8DE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D3CDEAA-6D51-4B41-8701-A636B55C03D7}"/>
              </a:ext>
            </a:extLst>
          </p:cNvPr>
          <p:cNvSpPr>
            <a:spLocks noGrp="1"/>
          </p:cNvSpPr>
          <p:nvPr/>
        </p:nvSpPr>
        <p:spPr>
          <a:xfrm>
            <a:off x="5276850" y="2686050"/>
            <a:ext cx="248602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8111F"/>
                </a:solidFill>
                <a:latin typeface="Aptos"/>
                <a:ea typeface="Aptos"/>
                <a:cs typeface="Aptos"/>
              </a:rPr>
              <a:t>reactive; can over-upgrade during drops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347814A-7A8F-4794-990D-0F18A93E59EC}"/>
              </a:ext>
            </a:extLst>
          </p:cNvPr>
          <p:cNvSpPr>
            <a:spLocks noGrp="1"/>
          </p:cNvSpPr>
          <p:nvPr/>
        </p:nvSpPr>
        <p:spPr>
          <a:xfrm>
            <a:off x="7877175" y="2552700"/>
            <a:ext cx="3143250" cy="590550"/>
          </a:xfrm>
          <a:prstGeom prst="rect">
            <a:avLst/>
          </a:prstGeom>
          <a:solidFill>
            <a:srgbClr val="DDF8EA"/>
          </a:solidFill>
          <a:ln w="9525">
            <a:solidFill>
              <a:srgbClr val="B7F16A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5874825-FD66-422D-BD99-450DC9B76011}"/>
              </a:ext>
            </a:extLst>
          </p:cNvPr>
          <p:cNvSpPr>
            <a:spLocks noGrp="1"/>
          </p:cNvSpPr>
          <p:nvPr/>
        </p:nvSpPr>
        <p:spPr>
          <a:xfrm>
            <a:off x="7991475" y="2686050"/>
            <a:ext cx="2914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8111F"/>
                </a:solidFill>
                <a:latin typeface="Aptos"/>
                <a:ea typeface="Aptos"/>
                <a:cs typeface="Aptos"/>
              </a:rPr>
              <a:t>uses throughput trend plus risk cap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04A36B0-C7B3-413C-8B32-3AE11DFC0F0B}"/>
              </a:ext>
            </a:extLst>
          </p:cNvPr>
          <p:cNvSpPr>
            <a:spLocks noGrp="1"/>
          </p:cNvSpPr>
          <p:nvPr/>
        </p:nvSpPr>
        <p:spPr>
          <a:xfrm>
            <a:off x="590550" y="3143250"/>
            <a:ext cx="20955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2D8DE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A46CF75-E175-4B69-852C-A29DBAE08496}"/>
              </a:ext>
            </a:extLst>
          </p:cNvPr>
          <p:cNvSpPr>
            <a:spLocks noGrp="1"/>
          </p:cNvSpPr>
          <p:nvPr/>
        </p:nvSpPr>
        <p:spPr>
          <a:xfrm>
            <a:off x="704850" y="3276600"/>
            <a:ext cx="1866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Buffer ABR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EECA8E0-58F6-411A-B1CC-6ED336116683}"/>
              </a:ext>
            </a:extLst>
          </p:cNvPr>
          <p:cNvSpPr>
            <a:spLocks noGrp="1"/>
          </p:cNvSpPr>
          <p:nvPr/>
        </p:nvSpPr>
        <p:spPr>
          <a:xfrm>
            <a:off x="2686050" y="3143250"/>
            <a:ext cx="24765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2D8DE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F553C9E-4AA4-456C-9A2D-2687F01E7875}"/>
              </a:ext>
            </a:extLst>
          </p:cNvPr>
          <p:cNvSpPr>
            <a:spLocks noGrp="1"/>
          </p:cNvSpPr>
          <p:nvPr/>
        </p:nvSpPr>
        <p:spPr>
          <a:xfrm>
            <a:off x="2800350" y="3276600"/>
            <a:ext cx="2247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8111F"/>
                </a:solidFill>
                <a:latin typeface="Aptos"/>
                <a:ea typeface="Aptos"/>
                <a:cs typeface="Aptos"/>
              </a:rPr>
              <a:t>buffer occupancy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04CB6A6-ED33-403E-877D-9495FEC85CC5}"/>
              </a:ext>
            </a:extLst>
          </p:cNvPr>
          <p:cNvSpPr>
            <a:spLocks noGrp="1"/>
          </p:cNvSpPr>
          <p:nvPr/>
        </p:nvSpPr>
        <p:spPr>
          <a:xfrm>
            <a:off x="5162550" y="3143250"/>
            <a:ext cx="2714625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2D8DE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0B4C3BC-DA0E-4B92-AD78-C8E24FBE73BF}"/>
              </a:ext>
            </a:extLst>
          </p:cNvPr>
          <p:cNvSpPr>
            <a:spLocks noGrp="1"/>
          </p:cNvSpPr>
          <p:nvPr/>
        </p:nvSpPr>
        <p:spPr>
          <a:xfrm>
            <a:off x="5276850" y="3276600"/>
            <a:ext cx="248602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8111F"/>
                </a:solidFill>
                <a:latin typeface="Aptos"/>
                <a:ea typeface="Aptos"/>
                <a:cs typeface="Aptos"/>
              </a:rPr>
              <a:t>ignores RTT, jitter, and packet loss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23C0FF7-AA40-435B-ADBA-0F2F8E4A089B}"/>
              </a:ext>
            </a:extLst>
          </p:cNvPr>
          <p:cNvSpPr>
            <a:spLocks noGrp="1"/>
          </p:cNvSpPr>
          <p:nvPr/>
        </p:nvSpPr>
        <p:spPr>
          <a:xfrm>
            <a:off x="7877175" y="3143250"/>
            <a:ext cx="3143250" cy="590550"/>
          </a:xfrm>
          <a:prstGeom prst="rect">
            <a:avLst/>
          </a:prstGeom>
          <a:solidFill>
            <a:srgbClr val="DDF8EA"/>
          </a:solidFill>
          <a:ln w="9525">
            <a:solidFill>
              <a:srgbClr val="B7F16A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65C5F75-87F7-44ED-BE26-CC09A2DCCBB9}"/>
              </a:ext>
            </a:extLst>
          </p:cNvPr>
          <p:cNvSpPr>
            <a:spLocks noGrp="1"/>
          </p:cNvSpPr>
          <p:nvPr/>
        </p:nvSpPr>
        <p:spPr>
          <a:xfrm>
            <a:off x="7991475" y="3276600"/>
            <a:ext cx="2914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8111F"/>
                </a:solidFill>
                <a:latin typeface="Aptos"/>
                <a:ea typeface="Aptos"/>
                <a:cs typeface="Aptos"/>
              </a:rPr>
              <a:t>scores multi-signal QoS risk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A2ECCC6-940E-43B2-8798-05C5B369337A}"/>
              </a:ext>
            </a:extLst>
          </p:cNvPr>
          <p:cNvSpPr>
            <a:spLocks noGrp="1"/>
          </p:cNvSpPr>
          <p:nvPr/>
        </p:nvSpPr>
        <p:spPr>
          <a:xfrm>
            <a:off x="590550" y="3733800"/>
            <a:ext cx="20955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2D8DE"/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5CFC19A-E078-453E-92CA-CCBAA95C45DF}"/>
              </a:ext>
            </a:extLst>
          </p:cNvPr>
          <p:cNvSpPr>
            <a:spLocks noGrp="1"/>
          </p:cNvSpPr>
          <p:nvPr/>
        </p:nvSpPr>
        <p:spPr>
          <a:xfrm>
            <a:off x="704850" y="3867150"/>
            <a:ext cx="1866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dash.js default ABR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979D0A7-73C9-4D33-A37C-7A0185C74B3F}"/>
              </a:ext>
            </a:extLst>
          </p:cNvPr>
          <p:cNvSpPr>
            <a:spLocks noGrp="1"/>
          </p:cNvSpPr>
          <p:nvPr/>
        </p:nvSpPr>
        <p:spPr>
          <a:xfrm>
            <a:off x="2686050" y="3733800"/>
            <a:ext cx="24765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2D8DE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B61C19B-EB77-4545-BDDF-0DD85ED06363}"/>
              </a:ext>
            </a:extLst>
          </p:cNvPr>
          <p:cNvSpPr>
            <a:spLocks noGrp="1"/>
          </p:cNvSpPr>
          <p:nvPr/>
        </p:nvSpPr>
        <p:spPr>
          <a:xfrm>
            <a:off x="2800350" y="3867150"/>
            <a:ext cx="2247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8111F"/>
                </a:solidFill>
                <a:latin typeface="Aptos"/>
                <a:ea typeface="Aptos"/>
                <a:cs typeface="Aptos"/>
              </a:rPr>
              <a:t>player-side ABR rules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0C85F80-A315-4B92-8FAF-0C15451093C3}"/>
              </a:ext>
            </a:extLst>
          </p:cNvPr>
          <p:cNvSpPr>
            <a:spLocks noGrp="1"/>
          </p:cNvSpPr>
          <p:nvPr/>
        </p:nvSpPr>
        <p:spPr>
          <a:xfrm>
            <a:off x="5162550" y="3733800"/>
            <a:ext cx="2714625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2D8DE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BE2CA28-91F7-4530-82E6-405175C4B360}"/>
              </a:ext>
            </a:extLst>
          </p:cNvPr>
          <p:cNvSpPr>
            <a:spLocks noGrp="1"/>
          </p:cNvSpPr>
          <p:nvPr/>
        </p:nvSpPr>
        <p:spPr>
          <a:xfrm>
            <a:off x="5276850" y="3867150"/>
            <a:ext cx="248602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8111F"/>
                </a:solidFill>
                <a:latin typeface="Aptos"/>
                <a:ea typeface="Aptos"/>
                <a:cs typeface="Aptos"/>
              </a:rPr>
              <a:t>less explainable in our demo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3A980FF-F993-4635-8718-9D12AEC36635}"/>
              </a:ext>
            </a:extLst>
          </p:cNvPr>
          <p:cNvSpPr>
            <a:spLocks noGrp="1"/>
          </p:cNvSpPr>
          <p:nvPr/>
        </p:nvSpPr>
        <p:spPr>
          <a:xfrm>
            <a:off x="7877175" y="3733800"/>
            <a:ext cx="3143250" cy="590550"/>
          </a:xfrm>
          <a:prstGeom prst="rect">
            <a:avLst/>
          </a:prstGeom>
          <a:solidFill>
            <a:srgbClr val="DDF8EA"/>
          </a:solidFill>
          <a:ln w="9525">
            <a:solidFill>
              <a:srgbClr val="B7F16A"/>
            </a:solidFill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6E27D63-73BF-401B-AA8F-868BBAA77D57}"/>
              </a:ext>
            </a:extLst>
          </p:cNvPr>
          <p:cNvSpPr>
            <a:spLocks noGrp="1"/>
          </p:cNvSpPr>
          <p:nvPr/>
        </p:nvSpPr>
        <p:spPr>
          <a:xfrm>
            <a:off x="7991475" y="3867150"/>
            <a:ext cx="2914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8111F"/>
                </a:solidFill>
                <a:latin typeface="Aptos"/>
                <a:ea typeface="Aptos"/>
                <a:cs typeface="Aptos"/>
              </a:rPr>
              <a:t>logs confidence, risk, and reason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FC76F07-340F-43F4-A198-83972F9A36EF}"/>
              </a:ext>
            </a:extLst>
          </p:cNvPr>
          <p:cNvSpPr>
            <a:spLocks noGrp="1"/>
          </p:cNvSpPr>
          <p:nvPr/>
        </p:nvSpPr>
        <p:spPr>
          <a:xfrm>
            <a:off x="590550" y="4324350"/>
            <a:ext cx="20955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2D8DE"/>
            </a:solidFill>
            <a:prstDash val="solid"/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735B643-28B7-4F8F-964A-6AC1170049EB}"/>
              </a:ext>
            </a:extLst>
          </p:cNvPr>
          <p:cNvSpPr>
            <a:spLocks noGrp="1"/>
          </p:cNvSpPr>
          <p:nvPr/>
        </p:nvSpPr>
        <p:spPr>
          <a:xfrm>
            <a:off x="704850" y="4457700"/>
            <a:ext cx="1866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Plain ML classifier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E008C43-F712-407E-B737-67EA3C585C1A}"/>
              </a:ext>
            </a:extLst>
          </p:cNvPr>
          <p:cNvSpPr>
            <a:spLocks noGrp="1"/>
          </p:cNvSpPr>
          <p:nvPr/>
        </p:nvSpPr>
        <p:spPr>
          <a:xfrm>
            <a:off x="2686050" y="4324350"/>
            <a:ext cx="24765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2D8DE"/>
            </a:solidFill>
            <a:prstDash val="solid"/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D597B8A-86E9-44A2-97FB-5CD7B49A6339}"/>
              </a:ext>
            </a:extLst>
          </p:cNvPr>
          <p:cNvSpPr>
            <a:spLocks noGrp="1"/>
          </p:cNvSpPr>
          <p:nvPr/>
        </p:nvSpPr>
        <p:spPr>
          <a:xfrm>
            <a:off x="2800350" y="4457700"/>
            <a:ext cx="2247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8111F"/>
                </a:solidFill>
                <a:latin typeface="Aptos"/>
                <a:ea typeface="Aptos"/>
                <a:cs typeface="Aptos"/>
              </a:rPr>
              <a:t>model output only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4EEAD20-552F-4CF6-98DE-A2C3D2351888}"/>
              </a:ext>
            </a:extLst>
          </p:cNvPr>
          <p:cNvSpPr>
            <a:spLocks noGrp="1"/>
          </p:cNvSpPr>
          <p:nvPr/>
        </p:nvSpPr>
        <p:spPr>
          <a:xfrm>
            <a:off x="5162550" y="4324350"/>
            <a:ext cx="2714625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2D8DE"/>
            </a:solidFill>
            <a:prstDash val="solid"/>
          </a:ln>
        </p:spPr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DC78E12-FC6A-44E8-B581-B5304D482647}"/>
              </a:ext>
            </a:extLst>
          </p:cNvPr>
          <p:cNvSpPr>
            <a:spLocks noGrp="1"/>
          </p:cNvSpPr>
          <p:nvPr/>
        </p:nvSpPr>
        <p:spPr>
          <a:xfrm>
            <a:off x="5276850" y="4457700"/>
            <a:ext cx="248602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8111F"/>
                </a:solidFill>
                <a:latin typeface="Aptos"/>
                <a:ea typeface="Aptos"/>
                <a:cs typeface="Aptos"/>
              </a:rPr>
              <a:t>optimistic predictions can be unsafe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BCB5CB5-7C30-4271-99A8-27E4C0381EFB}"/>
              </a:ext>
            </a:extLst>
          </p:cNvPr>
          <p:cNvSpPr>
            <a:spLocks noGrp="1"/>
          </p:cNvSpPr>
          <p:nvPr/>
        </p:nvSpPr>
        <p:spPr>
          <a:xfrm>
            <a:off x="7877175" y="4324350"/>
            <a:ext cx="3143250" cy="590550"/>
          </a:xfrm>
          <a:prstGeom prst="rect">
            <a:avLst/>
          </a:prstGeom>
          <a:solidFill>
            <a:srgbClr val="DDF8EA"/>
          </a:solidFill>
          <a:ln w="9525">
            <a:solidFill>
              <a:srgbClr val="B7F16A"/>
            </a:solidFill>
            <a:prstDash val="solid"/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129F025-58FA-4C52-BACA-8F5974B0B143}"/>
              </a:ext>
            </a:extLst>
          </p:cNvPr>
          <p:cNvSpPr>
            <a:spLocks noGrp="1"/>
          </p:cNvSpPr>
          <p:nvPr/>
        </p:nvSpPr>
        <p:spPr>
          <a:xfrm>
            <a:off x="7991475" y="4457700"/>
            <a:ext cx="2914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8111F"/>
                </a:solidFill>
                <a:latin typeface="Aptos"/>
                <a:ea typeface="Aptos"/>
                <a:cs typeface="Aptos"/>
              </a:rPr>
              <a:t>guard holds/downshifts when risk is high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EDBD9C5-B702-4ED0-B52F-163CDBC4F527}"/>
              </a:ext>
            </a:extLst>
          </p:cNvPr>
          <p:cNvSpPr>
            <a:spLocks noGrp="1"/>
          </p:cNvSpPr>
          <p:nvPr/>
        </p:nvSpPr>
        <p:spPr>
          <a:xfrm>
            <a:off x="895350" y="5010150"/>
            <a:ext cx="9620250" cy="704850"/>
          </a:xfrm>
          <a:prstGeom prst="rect">
            <a:avLst/>
          </a:prstGeom>
          <a:solidFill>
            <a:srgbClr val="102236"/>
          </a:solidFill>
          <a:ln w="9525">
            <a:solidFill>
              <a:srgbClr val="FF6B5F"/>
            </a:solidFill>
            <a:prstDash val="solid"/>
          </a:ln>
        </p:spPr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7D3F425-4444-4F99-95AA-EC128D423088}"/>
              </a:ext>
            </a:extLst>
          </p:cNvPr>
          <p:cNvSpPr>
            <a:spLocks noGrp="1"/>
          </p:cNvSpPr>
          <p:nvPr/>
        </p:nvSpPr>
        <p:spPr>
          <a:xfrm>
            <a:off x="1181100" y="521970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F6B5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6B5F"/>
                </a:solidFill>
                <a:latin typeface="Aptos Display"/>
                <a:ea typeface="Aptos Display"/>
                <a:cs typeface="Aptos Display"/>
              </a:rPr>
              <a:t>Novel methodology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58AFFD7-1321-4CE3-926A-FDDAF4C68F99}"/>
              </a:ext>
            </a:extLst>
          </p:cNvPr>
          <p:cNvSpPr>
            <a:spLocks noGrp="1"/>
          </p:cNvSpPr>
          <p:nvPr/>
        </p:nvSpPr>
        <p:spPr>
          <a:xfrm>
            <a:off x="3143250" y="5162550"/>
            <a:ext cx="6858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6F2EA"/>
                </a:solidFill>
                <a:latin typeface="Aptos"/>
                <a:ea typeface="Aptos"/>
                <a:cs typeface="Aptos"/>
              </a:rPr>
              <a:t>Random Forest predicts quality; QoS-Risk Guard computes a 0-1 risk score from low buffer, throughput drop, high RTT, packet loss, and jitter, then caps unsafe upgrades or triggers downshift.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96434A4-0498-431B-8BB5-03932534C670}"/>
              </a:ext>
            </a:extLst>
          </p:cNvPr>
          <p:cNvSpPr>
            <a:spLocks noGrp="1"/>
          </p:cNvSpPr>
          <p:nvPr/>
        </p:nvSpPr>
        <p:spPr>
          <a:xfrm>
            <a:off x="514350" y="6438900"/>
            <a:ext cx="723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E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EA3B8"/>
                </a:solidFill>
                <a:latin typeface="Aptos"/>
                <a:ea typeface="Aptos"/>
                <a:cs typeface="Aptos"/>
              </a:rPr>
              <a:t>Source: updated ai_model.py PredictionResult risk_score and protection_action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34C3D90-06DA-4387-ACC0-B46103FA2A5C}"/>
              </a:ext>
            </a:extLst>
          </p:cNvPr>
          <p:cNvSpPr>
            <a:spLocks noGrp="1"/>
          </p:cNvSpPr>
          <p:nvPr/>
        </p:nvSpPr>
        <p:spPr>
          <a:xfrm>
            <a:off x="11163300" y="6438900"/>
            <a:ext cx="514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8EA3B8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8EA3B8"/>
                </a:solidFill>
                <a:latin typeface="Aptos Mono"/>
                <a:ea typeface="Aptos Mono"/>
                <a:cs typeface="Aptos Mono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0026036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969</Words>
  <Application>Microsoft Office PowerPoint</Application>
  <DocSecurity>0</DocSecurity>
  <PresentationFormat>Widescreen</PresentationFormat>
  <Paragraphs>187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Aptos Mono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Udit Singh</cp:lastModifiedBy>
  <cp:revision>1</cp:revision>
  <dcterms:created xsi:type="dcterms:W3CDTF">2026-06-11T13:47:03Z</dcterms:created>
  <dcterms:modified xsi:type="dcterms:W3CDTF">2026-06-11T13:50:36Z</dcterms:modified>
</cp:coreProperties>
</file>