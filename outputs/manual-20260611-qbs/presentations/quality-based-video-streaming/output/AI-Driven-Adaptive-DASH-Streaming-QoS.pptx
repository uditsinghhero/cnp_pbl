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2d6c447e0bf4bd7" /><Relationship Type="http://schemas.openxmlformats.org/officeDocument/2006/relationships/extended-properties" Target="/docProps/app.xml" Id="R6b3cd0a3c2374f9b" /><Relationship Type="http://schemas.openxmlformats.org/officeDocument/2006/relationships/officeDocument" Target="/ppt/presentation.xml" Id="R27897bca9d0242e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a0ba43fc41442f"/>
  </p:sldMasterIdLst>
  <p:notesMasterIdLst>
    <p:notesMasterId xmlns:r="http://schemas.openxmlformats.org/officeDocument/2006/relationships" r:id="R7b068754c6784c47"/>
  </p:notesMasterIdLst>
  <p:sldIdLst>
    <p:sldId xmlns:r="http://schemas.openxmlformats.org/officeDocument/2006/relationships" id="256" r:id="R781f40bd7acf4c37"/>
    <p:sldId xmlns:r="http://schemas.openxmlformats.org/officeDocument/2006/relationships" id="257" r:id="Rbb04584482334c11"/>
    <p:sldId xmlns:r="http://schemas.openxmlformats.org/officeDocument/2006/relationships" id="258" r:id="R722cd9aba5284a2a"/>
    <p:sldId xmlns:r="http://schemas.openxmlformats.org/officeDocument/2006/relationships" id="259" r:id="R607e1464c02b448e"/>
    <p:sldId xmlns:r="http://schemas.openxmlformats.org/officeDocument/2006/relationships" id="260" r:id="Rcf32b95061104a53"/>
    <p:sldId xmlns:r="http://schemas.openxmlformats.org/officeDocument/2006/relationships" id="261" r:id="R718213424aa84723"/>
    <p:sldId xmlns:r="http://schemas.openxmlformats.org/officeDocument/2006/relationships" id="262" r:id="Rd0d88276d3a84941"/>
    <p:sldId xmlns:r="http://schemas.openxmlformats.org/officeDocument/2006/relationships" id="263" r:id="R48363dd963c843ad"/>
    <p:sldId xmlns:r="http://schemas.openxmlformats.org/officeDocument/2006/relationships" id="264" r:id="Rebc0274f5786424e"/>
    <p:sldId xmlns:r="http://schemas.openxmlformats.org/officeDocument/2006/relationships" id="265" r:id="Re939394f98224eb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a0ba43fc41442f" /><Relationship Type="http://schemas.openxmlformats.org/officeDocument/2006/relationships/theme" Target="/ppt/theme/theme1.xml" Id="Rf39bb2f3abe54c5e" /><Relationship Type="http://schemas.openxmlformats.org/officeDocument/2006/relationships/notesMaster" Target="/ppt/notesMasters/notesMaster1.xml" Id="R7b068754c6784c47" /><Relationship Type="http://schemas.openxmlformats.org/officeDocument/2006/relationships/presProps" Target="/ppt/presProps.xml" Id="Raae9f9a004b44b73" /><Relationship Type="http://schemas.openxmlformats.org/officeDocument/2006/relationships/viewProps" Target="/ppt/viewProps.xml" Id="Rdbd07aa516aa4609" /><Relationship Type="http://schemas.openxmlformats.org/officeDocument/2006/relationships/tableStyles" Target="/ppt/tableStyles.xml" Id="R0b9d0ec213174a1d" /><Relationship Type="http://schemas.openxmlformats.org/officeDocument/2006/relationships/slide" Target="/ppt/slides/slide1.xml" Id="R781f40bd7acf4c37" /><Relationship Type="http://schemas.openxmlformats.org/officeDocument/2006/relationships/slide" Target="/ppt/slides/slide2.xml" Id="Rbb04584482334c11" /><Relationship Type="http://schemas.openxmlformats.org/officeDocument/2006/relationships/slide" Target="/ppt/slides/slide3.xml" Id="R722cd9aba5284a2a" /><Relationship Type="http://schemas.openxmlformats.org/officeDocument/2006/relationships/slide" Target="/ppt/slides/slide4.xml" Id="R607e1464c02b448e" /><Relationship Type="http://schemas.openxmlformats.org/officeDocument/2006/relationships/slide" Target="/ppt/slides/slide5.xml" Id="Rcf32b95061104a53" /><Relationship Type="http://schemas.openxmlformats.org/officeDocument/2006/relationships/slide" Target="/ppt/slides/slide6.xml" Id="R718213424aa84723" /><Relationship Type="http://schemas.openxmlformats.org/officeDocument/2006/relationships/slide" Target="/ppt/slides/slide7.xml" Id="Rd0d88276d3a84941" /><Relationship Type="http://schemas.openxmlformats.org/officeDocument/2006/relationships/slide" Target="/ppt/slides/slide8.xml" Id="R48363dd963c843ad" /><Relationship Type="http://schemas.openxmlformats.org/officeDocument/2006/relationships/slide" Target="/ppt/slides/slide9.xml" Id="Rebc0274f5786424e" /><Relationship Type="http://schemas.openxmlformats.org/officeDocument/2006/relationships/slide" Target="/ppt/slides/slide10.xml" Id="Re939394f98224eb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2ce88d2961e84a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c956badcd104953" /><Relationship Type="http://schemas.openxmlformats.org/officeDocument/2006/relationships/notesMaster" Target="/ppt/notesMasters/notesMaster1.xml" Id="R30272ac4ab69498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c3f9325c9914389" /><Relationship Type="http://schemas.openxmlformats.org/officeDocument/2006/relationships/notesMaster" Target="/ppt/notesMasters/notesMaster1.xml" Id="R715b8bc4ed6e4c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1d95932da44b83" /><Relationship Type="http://schemas.openxmlformats.org/officeDocument/2006/relationships/notesMaster" Target="/ppt/notesMasters/notesMaster1.xml" Id="R650fb17565aa444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b28b048ded24a66" /><Relationship Type="http://schemas.openxmlformats.org/officeDocument/2006/relationships/notesMaster" Target="/ppt/notesMasters/notesMaster1.xml" Id="Rb144abefa29d4b3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dda77aacf4e42b6" /><Relationship Type="http://schemas.openxmlformats.org/officeDocument/2006/relationships/notesMaster" Target="/ppt/notesMasters/notesMaster1.xml" Id="Ra463901bf55249c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1d64960a7dc4b8e" /><Relationship Type="http://schemas.openxmlformats.org/officeDocument/2006/relationships/notesMaster" Target="/ppt/notesMasters/notesMaster1.xml" Id="R2fd77c303d834e1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21244af618c4fe1" /><Relationship Type="http://schemas.openxmlformats.org/officeDocument/2006/relationships/notesMaster" Target="/ppt/notesMasters/notesMaster1.xml" Id="R018113a8ede94d4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d19ba33ce044a38" /><Relationship Type="http://schemas.openxmlformats.org/officeDocument/2006/relationships/notesMaster" Target="/ppt/notesMasters/notesMaster1.xml" Id="R24306ac1a8ff4e1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4bfdf398b14cf0" /><Relationship Type="http://schemas.openxmlformats.org/officeDocument/2006/relationships/notesMaster" Target="/ppt/notesMasters/notesMaster1.xml" Id="R75d054d27ec34e8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e68e740254a4cf3" /><Relationship Type="http://schemas.openxmlformats.org/officeDocument/2006/relationships/notesMaster" Target="/ppt/notesMasters/notesMaster1.xml" Id="Rcbd3f75c4106450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d74c2b390e460f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7a229bb770c4857" /><Relationship Type="http://schemas.openxmlformats.org/officeDocument/2006/relationships/slideLayout" Target="/ppt/slideLayouts/slideLayout2.xml" Id="Rceee316b14884f0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eee316b14884f0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b67da3eacd54c44" /><Relationship Type="http://schemas.openxmlformats.org/officeDocument/2006/relationships/notesSlide" Target="/ppt/notesSlides/notesSlide1.xml" Id="R14cce5e593ac4fe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247cb542de44832" /><Relationship Type="http://schemas.openxmlformats.org/officeDocument/2006/relationships/notesSlide" Target="/ppt/notesSlides/notesSlide2.xml" Id="R4ae7460fa9804d9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fd00985d9514403" /><Relationship Type="http://schemas.openxmlformats.org/officeDocument/2006/relationships/notesSlide" Target="/ppt/notesSlides/notesSlide3.xml" Id="R6d89a837aa55466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694d5c1609a4fa2" /><Relationship Type="http://schemas.openxmlformats.org/officeDocument/2006/relationships/notesSlide" Target="/ppt/notesSlides/notesSlide4.xml" Id="Reea7e45a5bed41e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1864f57715f4850" /><Relationship Type="http://schemas.openxmlformats.org/officeDocument/2006/relationships/notesSlide" Target="/ppt/notesSlides/notesSlide5.xml" Id="R62fb445012624fb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7930e6b0fec4edd" /><Relationship Type="http://schemas.openxmlformats.org/officeDocument/2006/relationships/notesSlide" Target="/ppt/notesSlides/notesSlide6.xml" Id="R7f2716f25744429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4c6dbea4c4d4936" /><Relationship Type="http://schemas.openxmlformats.org/officeDocument/2006/relationships/notesSlide" Target="/ppt/notesSlides/notesSlide7.xml" Id="R7f1a37f38c7d412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8e5ac6430b3419e" /><Relationship Type="http://schemas.openxmlformats.org/officeDocument/2006/relationships/image" Target="/ppt/media/image.png" Id="Re017a744269a4d3f" /><Relationship Type="http://schemas.openxmlformats.org/officeDocument/2006/relationships/image" Target="/ppt/media/image2.png" Id="R21041a3f9939479f" /><Relationship Type="http://schemas.openxmlformats.org/officeDocument/2006/relationships/notesSlide" Target="/ppt/notesSlides/notesSlide8.xml" Id="Rf5efee490e05479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42950e662204d50" /><Relationship Type="http://schemas.openxmlformats.org/officeDocument/2006/relationships/notesSlide" Target="/ppt/notesSlides/notesSlide9.xml" Id="Rc813e9c7082f492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5b7c6495f2046ab" /><Relationship Type="http://schemas.openxmlformats.org/officeDocument/2006/relationships/notesSlide" Target="/ppt/notesSlides/notesSlide10.xml" Id="Rb7f1859dd79e41ce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2497E79-76EF-4A90-809A-F58D985F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56336BC2-226A-44B8-B434-01442B707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8C7EDF29-0E13-44EB-AC5C-AEB796742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7F1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7F16A"/>
                </a:solidFill>
                <a:latin typeface="Aptos"/>
                <a:ea typeface="Aptos"/>
                <a:cs typeface="Aptos"/>
              </a:rPr>
              <a:t>QUALITY BASED VIDEO STREAMING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48D233-84FE-4195-AA52-20FF89734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7239000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7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AI-Driven Adaptive DASH Streaming for Enhanced Video QoS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A807A-A5BE-4D7A-8187-88F1118C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571750"/>
            <a:ext cx="64770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A real MPEG-DASH demo where browser QoS telemetry feeds a Random Forest bitrate controller, applies video quality through dash.js, and logs evidence for analysis.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49F03A-0B80-4C5B-A515-241E51C7A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862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2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3DD4BA-2386-4778-A381-FFA4BF29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98145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177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697E4D-1583-46D9-BFCB-AD0796D04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371975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logged playback samples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C4DED9-18FC-4BF2-B38B-1680019A7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8862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2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57F8E1-A897-4A6C-A8CD-8594105D2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8145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0.882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D3B7C8-4569-4657-98D8-6B8817DA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371975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average AI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D8ABCE-EEF1-42DE-9B68-06C72E09D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886200"/>
            <a:ext cx="20955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2"/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B6A8ECD-F1C2-4CDB-8A67-1D8CA631B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3981450"/>
            <a:ext cx="1752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12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107EB5-AE0F-433E-9EFF-89CB8AA12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8300" y="4371975"/>
            <a:ext cx="17526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quality switches recorded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55F403-C4D6-4DCD-863C-00601C682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085850"/>
            <a:ext cx="2667000" cy="3714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E1E30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41216-A962-4247-A0E9-30105AFD7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543050"/>
            <a:ext cx="819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A41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3F2B9E-15A8-4855-87F6-09DF6B1DD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695450"/>
            <a:ext cx="819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Video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E340F5-2347-47F8-BA17-D62B5D7C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543050"/>
            <a:ext cx="819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A41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4F8303-7F2A-4185-A415-F270C17E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1695450"/>
            <a:ext cx="819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DASH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8965A6-6583-4331-A11E-F7CBB2667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552700"/>
            <a:ext cx="819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A41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D68436-1A3E-455A-8628-BF3717E69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705100"/>
            <a:ext cx="819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QoS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0FAC74-1B18-4324-AA9A-04266A2BB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552700"/>
            <a:ext cx="819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6EEEF52-622C-411B-A10D-E0A2CA2B3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705100"/>
            <a:ext cx="819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5F8A1A5-FB90-4F34-80AB-98D65C4B2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562350"/>
            <a:ext cx="8191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2A41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4076E31-C4C9-4030-B26C-7E68F4187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714750"/>
            <a:ext cx="8191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Player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7C0E26E-3B36-43DB-9C99-4A97D10E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067300"/>
            <a:ext cx="2952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Project stack: FFmpeg + Flask + dash.js + Scikit-learn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A36892-E6CF-421D-993A-3E34F4222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README.md, results/qos_summary.csv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F4EEBD4-AFF0-4110-9865-396460205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97033382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CF6FA3B-0C1B-4FA9-B8E8-571E7265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7F276DF3-C067-481E-BAC6-911285B11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BBB830E-0D8F-4832-AFA2-AFC9EC0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B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5F"/>
                </a:solidFill>
                <a:latin typeface="Aptos"/>
                <a:ea typeface="Aptos"/>
                <a:cs typeface="Aptos"/>
              </a:rPr>
              <a:t>STREAMING PROBLEM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647467-073E-4496-8D5F-F394E3EEE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Quality drops happen before a player can explain them.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1CCF0C-5C48-46D0-96D0-2C104663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47850"/>
            <a:ext cx="6858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50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The controller watches multiple QoS signals together instead of trusting bandwidth alone.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EAB386-E420-4FD5-AED8-7B219CCE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419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067481-DA69-4EEA-886A-BF428E23A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0289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Low throughput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AFB3641-F964-439E-A476-3B6E7316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623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higher rebuffer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7090E-E3A7-488B-ADED-15B5809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857500"/>
            <a:ext cx="419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3EF047-1CE1-4295-9666-37720D1ED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0289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Low buffer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C76454-5FFB-40C5-8228-0F37ECFD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33623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quality must step down early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BAC941-D37A-49F0-83EF-40B6A684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114800"/>
            <a:ext cx="419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082E54-E039-41C0-B298-400EDCB84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High RTT + jitter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082CFE-09FB-477F-89CA-35B29BD1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6196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late segment arrival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A4DAA0-18F3-499F-835D-E975ED01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114800"/>
            <a:ext cx="419100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493898-C1F3-4C92-ADEC-BE69297D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286250"/>
            <a:ext cx="2095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Packet loss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1F20C-14AC-4E81-8EF2-C86BB777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19625"/>
            <a:ext cx="31432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capacity estimate becomes unsafe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B24EF39-2422-40A4-9C72-BD95FDA8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543050"/>
            <a:ext cx="30480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2032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32E582C-0C14-4369-8EF3-798D79AD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752600"/>
            <a:ext cx="25527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QoS signals must become a quality decision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406474C-D29F-4927-A6E8-95E16F6E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ai_model.py feature set and player.js telemetry loop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B13CE60-B5A9-4046-ACC8-1E70F209D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1457157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0303B470-66B5-40F5-B6A4-7EF81F00D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FF7AEC47-3BCC-4434-ADBE-6E534125C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9C4F4BEB-9CB9-4FEC-8033-BD925C8F8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6D1D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6D1DC"/>
                </a:solidFill>
                <a:latin typeface="Aptos"/>
                <a:ea typeface="Aptos"/>
                <a:cs typeface="Aptos"/>
              </a:rPr>
              <a:t>SYSTEM ARCHITECTURE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F51933-99BF-4FE3-8E6E-6615ABAEA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The implementation closes the loop from playback telemetry to quality switching.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D8E8F7D-A1F8-4E5D-AD0B-B75C5937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857500"/>
            <a:ext cx="1619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B75E72-2A5B-4E4B-BB1A-BE7ED699F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28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Input video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CB7FB8-8809-4DC1-8A9F-2CAB8282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37185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sample.mp4 / dataset video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01685-B8FC-469B-8C2E-7C5B4F726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857500"/>
            <a:ext cx="1619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38186D2-164C-4A5C-9891-128A7783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028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FFmpeg DASH packager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BDC46B-7EA4-4862-945E-1FA39C72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337185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4-second segments + manifest.mpd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05A9F3-A8F9-4986-9F6A-BE6DC0D5A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857500"/>
            <a:ext cx="1619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1992A6-8CB3-43B6-9D78-7B2A0D465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028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Flask server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8802D0-D89A-42EB-A0C5-D6016B5D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337185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segments + prediction API + logging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5A76D9-51E9-4474-8830-DA65C582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857500"/>
            <a:ext cx="1619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3F9DC9-4A3D-4349-A2DE-D7CEF6459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028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Browser player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2CD6F24-2C52-49C8-B7BC-50DECC9B6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37185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dash.js playback dashboard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721199-3CF5-45F5-8D15-2FFAF971C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2857500"/>
            <a:ext cx="16192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0E4388-8013-4860-9388-D7A2CDA2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28950"/>
            <a:ext cx="13525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Result analysis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BF0E86-1FDD-497C-AD88-C80AD9EE5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371850"/>
            <a:ext cx="13525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QoS graphs + summary CSV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6A3E14-F86D-4F0F-B7CF-2BFAFD686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90900"/>
            <a:ext cx="4000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8EA3B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34833C-6785-424C-A2D0-C8D6B4CEB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33432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E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05B105E-DF41-46AD-8360-AB5BEE0E3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390900"/>
            <a:ext cx="4000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8EA3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1E440E-91A6-429F-AD39-315B849D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3432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E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A86512-A701-471D-B16D-31A244782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3390900"/>
            <a:ext cx="4000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8EA3B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ED11B0-C278-4280-8A57-F2664DA25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3432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E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0551F26-A232-40A6-AF9B-DC404FAF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390900"/>
            <a:ext cx="4000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8EA3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0854D94-A5DB-45B3-8172-AB043DED7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3432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E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4BD442C-1397-45EB-99FC-86A20EA1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267200"/>
            <a:ext cx="22479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42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D5D1976-D06B-4209-882D-5E57C68E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438650"/>
            <a:ext cx="180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13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Random Forest predictor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DB490A-D0F6-4043-8F30-5D8474A77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724400"/>
            <a:ext cx="18097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Inputs: throughput, previous throughput, buffer, latency, packet loss, jitter, current quality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B78311B-CCE5-46E7-9E3B-862F8387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267200"/>
            <a:ext cx="9525" cy="-32385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B7F16A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681BBAC-DC38-419B-AB50-322333BA6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89572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232B17D-69BF-47FE-852F-336CE15A7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app.py, generate_dash.py, ai_model.py, static/js/player.js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68C9A-FCF7-49F6-9B74-543A7FE96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59045767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21266E7-6B78-4958-9B05-BA3AD9C73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0FFAB392-145F-4A6B-99DF-80584FE43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193C9D76-2360-4507-AEDD-A770735F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B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5F"/>
                </a:solidFill>
                <a:latin typeface="Aptos"/>
                <a:ea typeface="Aptos"/>
                <a:cs typeface="Aptos"/>
              </a:rPr>
              <a:t>DASH ENCODING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D13781-0A0D-470B-9937-D5962331E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A real bitrate ladder lets the AI choose actual playable representations.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B47B8E-316B-416A-B940-699AEC60C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038350"/>
            <a:ext cx="7239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generate_dash.py uses FFmpeg to create a manifest and segmented .m4s streams at multiple resolutions.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A5C44-A27D-4D04-8F9A-6D6E64FB1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57725"/>
            <a:ext cx="1476375" cy="676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28B139-0511-42E8-84A2-F8AFE767B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1476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240p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3E8ED-67AA-41EA-8DFD-D6CACC57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29300"/>
            <a:ext cx="1476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400 kbps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190A94-61BF-41E1-A756-93761A2C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4181475"/>
            <a:ext cx="1476375" cy="1152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BB58D6-AE55-4C60-87C9-2BFAAB362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543550"/>
            <a:ext cx="1476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360p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D7CADC3-4945-4A7C-AD31-0E3CE5602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5829300"/>
            <a:ext cx="1476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1000 kbps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1427862-D25D-47D9-88CF-310D5E666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514725"/>
            <a:ext cx="1476375" cy="1819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DC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C3872A9-D0D4-4C50-BC94-C21FBED4B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543550"/>
            <a:ext cx="1476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720p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8AED05-4B9A-44CF-9402-C3449AF29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829300"/>
            <a:ext cx="1476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2500 kbps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D5F3BE-C235-434C-B4B9-DE3BE26A8C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619375"/>
            <a:ext cx="1476375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75F530-DCDA-48A5-BCDA-E8B3E860F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543550"/>
            <a:ext cx="1476375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8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1080p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64EEC7-A8CC-4893-9F82-CB54F65B8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29300"/>
            <a:ext cx="147637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defRPr>
            </a:pPr>
            <a:r>
              <a:rPr sz="1050" b="0">
                <a:solidFill>
                  <a:srgbClr val="54677C"/>
                </a:solidFill>
                <a:latin typeface="Aptos Mono"/>
                <a:ea typeface="Aptos Mono"/>
                <a:cs typeface="Aptos Mono"/>
              </a:rPr>
              <a:t>6000 kbps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2231261-F603-45C3-BB2F-85805234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1465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9FB346-4283-4E6A-8FE6-04F45007D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00990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4 sec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EADB747-797E-4186-A1D1-8482CC8D5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400425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segment duration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50D917-72B9-4B09-A7C0-662DB62D3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4038600"/>
            <a:ext cx="1619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7E76B8-E0D2-4352-A9FD-96B5B607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133850"/>
            <a:ext cx="12763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MPD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45A3F2E-6E85-4B2F-89EF-C95D877E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524375"/>
            <a:ext cx="12763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manifest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C33FFB-AB92-4AE4-BE2A-C13F30B30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generate_dash.py encoding ladder and media/dash outputs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12EE2A-96D8-4EBC-B622-BB38E84A2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2030616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5ED5D45-79A3-4B69-82E0-D22C6C97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B363EDCF-6DC6-43AA-AB4B-783F0AB40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7CDE031-275D-41EE-B9B0-048744859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7F1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7F16A"/>
                </a:solidFill>
                <a:latin typeface="Aptos"/>
                <a:ea typeface="Aptos"/>
                <a:cs typeface="Aptos"/>
              </a:rPr>
              <a:t>AI BITRATE PREDICTION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B093C4-1DE1-43C2-965B-21651D531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The model translates seven network features into one safe quality level.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BC4A3D-8853-468D-B97D-26E0E6535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362200"/>
            <a:ext cx="1771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60A809-CDE3-4E46-AB86-7B9B1C4B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42887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throughput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EC5587-0E07-4A80-8381-A648C8E3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362200"/>
            <a:ext cx="1771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90F479-088A-4140-B1D0-5E8F12C64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42887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previous throughput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01DF2D-C97E-4BF4-A82E-C617BB2CD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952750"/>
            <a:ext cx="1771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4F1470-F504-484C-9435-153EBD40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01942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buffer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6A2C08-3428-4DEF-8985-F823AA8FA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52750"/>
            <a:ext cx="1771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7526F9-A0EB-43CB-B607-EEC898E15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01942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latency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84DC561-B01F-4DB2-BD40-5B8182B96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543300"/>
            <a:ext cx="1771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9366AB-3EEE-4F21-8063-873ED99C3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0997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packet loss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5FDD26-852E-4A60-B787-A17CE87DD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543300"/>
            <a:ext cx="1771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38E2CE8-30D1-40E8-A62C-97DC326F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360997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jitter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73E298-F8B0-4C74-982E-8FD43C4D9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33850"/>
            <a:ext cx="17716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10EBEC6-3569-475B-97B5-8050E8627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200525"/>
            <a:ext cx="15049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A3B8"/>
                </a:solidFill>
                <a:latin typeface="Aptos"/>
                <a:ea typeface="Aptos"/>
                <a:cs typeface="Aptos"/>
              </a:rPr>
              <a:t>current quality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A8397CC-5DA1-4664-A576-5B58EAD32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24150"/>
            <a:ext cx="2381250" cy="1390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263A"/>
          </a:solidFill>
          <a:ln xmlns:a="http://schemas.openxmlformats.org/drawingml/2006/main" w="19050">
            <a:solidFill>
              <a:srgbClr val="B7F1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03B36F2-90F6-43E4-BBA8-6D3895DE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028950"/>
            <a:ext cx="1847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Random Forest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B29B1B-82AF-44B5-9810-C0047CF67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486150"/>
            <a:ext cx="17716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180 trees, max depth 8, balanced classes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3591CD-64E8-4987-AEBC-924EE1EFF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429000"/>
            <a:ext cx="4572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8EA3B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A9F109-3C93-4F55-B21D-F2802CC1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3813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E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7D20029-1E1B-4718-B71B-4F37C6AB3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29000"/>
            <a:ext cx="45720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8EA3B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421A28A-67CA-4FA9-9F2D-0069398C6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3813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8EA3B8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6CCFC8-50B4-4804-A8D2-01F6C6A14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2479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49F9B57-B063-42F5-AC39-7FBFEC1C8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333625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240p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258760-756A-48BB-AFB9-8F6F2F8F1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6220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400k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F28F9A3-4FEE-4D7E-8307-D2A3949E4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9337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DC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378C523-A185-4183-9497-B85DE488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019425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360p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FC9B1EC-944A-485D-848A-0C928B733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4800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1000k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6E46E50-6371-4744-AECB-29240AD3C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6195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A9B2CC1-204F-41C1-9C97-1ACA569A9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705225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720p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2620F81-20CF-4FD3-A603-2239D7FF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73380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2500k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37C4E38-32A4-434A-9141-175B3E06B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305300"/>
            <a:ext cx="20002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AD950F3-26F3-4A72-A021-2405040E8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391025"/>
            <a:ext cx="685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1080p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13E452-BE84-49CF-8EF6-F7C90871D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4419600"/>
            <a:ext cx="6096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97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6000k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FE959A6-5ECD-4966-BF40-55ABEEA1D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8858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Prediction returns quality label, bitrate, confidence, accuracy, and a human-readable reason such as low buffer or packet loss.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B6E5802-96CC-425E-9048-EF102BD1A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ai_model.py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A599E7B-BEFC-41F2-B903-2694DC5C4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8786273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165BFCA-2552-4AE6-8C2D-8F69F40C1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A2FB38E-8812-4D70-83D3-1AE69B3F5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FAF5836B-0A19-486C-A897-AA325F5C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D166"/>
                </a:solidFill>
                <a:latin typeface="Aptos"/>
                <a:ea typeface="Aptos"/>
                <a:cs typeface="Aptos"/>
              </a:rPr>
              <a:t>RUNTIME CONTROL LOOP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3290D5-8511-4BAE-9EED-EA201BE9E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Every two seconds, playback evidence becomes a new quality decision.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CDFD466-0000-4ABE-9505-590526DA6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8950"/>
            <a:ext cx="2095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7AA6CE-A965-4560-B89F-837554561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ABA7AC-E42A-4157-B0A3-E36BB6DA6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361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6438A5-04FB-4D7A-851E-0E5CD06FC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3850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Measure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4FCEC2-5490-42A7-96CA-F9CAFF4BB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1950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throughput, latency, buffer, loss, jitter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A7B687-67ED-404A-BA3B-0C851170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19400" y="3619500"/>
            <a:ext cx="5524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FFD16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F6BEDAA-2D65-4888-87C4-74C7239C9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571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2193BE-F402-4A25-9C41-8596283E5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3028950"/>
            <a:ext cx="2095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0B7CD3-56A0-47C9-9A94-4EAA39CEB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2385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DA98D9-6B23-43AF-8848-C36522FC2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305175"/>
            <a:ext cx="361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183C0F1-6734-41E6-8043-4E685B24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3850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Predict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0BE37E-12A2-4356-861A-B1F3E78C3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61950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POST /api/predict to Flask model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7892B3A-E527-403F-AA0D-D230100DE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3619500"/>
            <a:ext cx="5524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FFD1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BD91343-594A-4D88-B89C-7B6BC9BA7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571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BC23E7-8AF5-4DC8-B432-31CFC9ED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28950"/>
            <a:ext cx="2095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C21C25-19C5-4D6D-BA09-16A7CB80A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2385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3CD37E-670C-466C-8F66-B24027557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305175"/>
            <a:ext cx="361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F5D3D1-D884-4113-BFC9-113E72C15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3850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Apply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6E9005-7FE6-4333-9959-0DBE2A45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61950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dash.js quality set to selected index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51809C2-EBA5-46A9-B982-8C38F34BF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619500"/>
            <a:ext cx="552450" cy="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19050">
            <a:solidFill>
              <a:srgbClr val="FFD16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B98F1E-EAC3-4E90-9CB0-8E170647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7300" y="3571875"/>
            <a:ext cx="95250" cy="95250"/>
          </a:xfrm>
          <a:prstGeom xmlns:a="http://schemas.openxmlformats.org/drawingml/2006/main" prst="triangle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0C2D00-000D-4FD2-A1DE-86CD6DEF7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028950"/>
            <a:ext cx="2095500" cy="1181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8EA3B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6D4781-F529-4701-8AE7-ABA03E78A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38500"/>
            <a:ext cx="3619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67AB56-5081-42A8-ADFE-7C13182C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305175"/>
            <a:ext cx="3619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27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F2C9268-1C47-4832-B67A-9397F6BC8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38500"/>
            <a:ext cx="11430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Log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66D5EF-7831-4459-ABF1-16D0949D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619500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append metrics and reason to CSV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5F73955-B07F-457F-B45B-880BA1DB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0"/>
            <a:ext cx="1005840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2A42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16B3CB-5E8C-4D4E-8C96-566B7CAE2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933950"/>
            <a:ext cx="11239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2s loop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437BBC-D89F-469A-ADF8-9D65D2C03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53000"/>
            <a:ext cx="8001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AI enabled: dash.js auto ABR is disabled and the predicted level is applied. AI disabled: normal dash.js ABR is used for comparison.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A085C5-B300-45AB-8714-DF0F55DE2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static/js/player.js controlLoop()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131D768-E26D-4CB8-8A2F-4C594B837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2066929285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D2037702-E696-47B1-AF4D-15D6F519C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48E82592-F9B3-44BE-8533-ECB85DDB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6D1DC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277DBF8C-1688-4AC5-B141-F1971F3A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36D1DC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36D1DC"/>
                </a:solidFill>
                <a:latin typeface="Aptos"/>
                <a:ea typeface="Aptos"/>
                <a:cs typeface="Aptos"/>
              </a:rPr>
              <a:t>DEMO DASHBOARD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D48F76-01D3-434E-94F9-1E70E7E74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The browser UI makes adaptive streaming observable and testable.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7E026EF-AE6C-4D81-A395-2B36B930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62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F05550-D1B4-48A9-8713-ABDFC8618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336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Video player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7EDB36-0C93-4A30-A069-DD1FFBD4B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plays the generated DASH manifest with dash.js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3E5D7A4-92D9-425D-82CC-F96D718FC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362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EA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40B589-483B-469C-8375-7D8341DE9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5336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AI toggle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DCC241-0C22-4C9D-9EEB-E14CEBD4F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76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switches between ML control and normal dash.js ABR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9C4F2B-7F11-496A-9E5E-2677F37F4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36220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F5162D-3CE3-4B0B-BE89-AFF8C6564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53365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Network profiles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C37A35-4FC7-4CE0-9A0A-7E01164E4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7655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stable, medium, poor, and lossy conditions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BF2D0B4-DB3F-40B8-8605-E6028E46F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147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402566-9DEE-41EB-8E55-859A7E88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8862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Live charts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378577-80AC-4A67-B11A-211543866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291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throughput, bitrate, buffer, and latency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E3089F-058C-487E-A0F8-3D0FABFF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147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C1BED8-73A2-4493-8474-A3D203FA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862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Decision reason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F811B0-CA10-4F98-BF60-60141E5F1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2291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shows stable network, low buffer, limited throughput, or packet loss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E3E36C4-71F4-4D7F-B5B9-E93A0DEF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3714750"/>
            <a:ext cx="285750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A30739C-E053-48E2-83DC-E18EECA13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86200"/>
            <a:ext cx="24765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16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Session logging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437E69F-F446-407A-8561-43B31B2E4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229100"/>
            <a:ext cx="2381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saves every decision for later result graphs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D10418D-EF40-4D4F-A4F6-A814BCF8A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64770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This is a working project surface, not a static simulation.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9CE6646-E5B1-4519-9BEF-6FB182E95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templates/index.html and static/js/player.js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0217309-8C3D-47B6-A7E2-326C86603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44062321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E8DA2B7-FBC1-4B0B-82C6-912434620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57D210E-5782-4FE7-8DF3-CA1CD7B7F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0F958F85-2405-4F09-8A5A-6E7521052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B7F16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B7F16A"/>
                </a:solidFill>
                <a:latin typeface="Aptos"/>
                <a:ea typeface="Aptos"/>
                <a:cs typeface="Aptos"/>
              </a:rPr>
              <a:t>RESULTS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441D20-390F-40AD-B7CD-585EC770B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Logged sessions show adaptive decisions under constrained network conditions.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ABBA78-F0CB-4183-8922-D4756646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885950"/>
            <a:ext cx="1581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A27A8-C7EA-4B03-9F1A-E44F55FC0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8120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177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9F22D2-BD53-4F49-8239-6E0451315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7172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samples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0BE4F7-EB07-4405-BB2D-9FB61291B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1885950"/>
            <a:ext cx="1581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9EED13-AAA1-4761-A3D6-6F30FE247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98120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2.199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DBAD1A-B6EC-46F7-89E8-695F0329B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37172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throughput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D870E0-EFC3-4668-BC97-EFAAA02B3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885950"/>
            <a:ext cx="1581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35F6C9-0DD7-4DA1-BD36-C6F1DF35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98120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B7F16A"/>
                </a:solidFill>
                <a:latin typeface="Aptos Display"/>
                <a:ea typeface="Aptos Display"/>
                <a:cs typeface="Aptos Display"/>
              </a:rPr>
              <a:t>10.255s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9F54DC-9F1E-4D8E-929F-7EA8771B9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37172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buffer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EB47963-23B4-4C8C-95BD-F0927C82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1885950"/>
            <a:ext cx="1581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1B2EE22-78F8-48AA-8ABF-965E82BE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198120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72.928ms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C7DCDB-079A-4921-AAE3-47E6DB770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37172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latency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47B363-DBC5-401C-9688-02189D69F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1885950"/>
            <a:ext cx="1581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FFD16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52FA23-7ADE-4751-B1B0-36E856438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198120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FFD166"/>
                </a:solidFill>
                <a:latin typeface="Aptos Display"/>
                <a:ea typeface="Aptos Display"/>
                <a:cs typeface="Aptos Display"/>
              </a:rPr>
              <a:t>63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DD7C9-9210-4ACA-B6B6-FC165A99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37172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low-buffer events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E5C8696-7BD9-4D4B-9324-30B1248C8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1885950"/>
            <a:ext cx="15811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3FF5AD-2C4F-48FC-A372-41AA664EF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981200"/>
            <a:ext cx="1238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210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0.882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AE7224-1A0E-4C82-95BD-6D759F95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371725"/>
            <a:ext cx="1238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avg confidence</a:t>
            </a:r>
          </a:p>
        </p:txBody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7a744269a4d3f"/>
          <a:stretch xmlns:a="http://schemas.openxmlformats.org/drawingml/2006/main"/>
        </p:blipFill>
        <p:spPr>
          <a:xfrm xmlns:a="http://schemas.openxmlformats.org/drawingml/2006/main">
            <a:off x="819150" y="3314700"/>
            <a:ext cx="4762500" cy="19050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41a3f9939479f"/>
          <a:stretch xmlns:a="http://schemas.openxmlformats.org/drawingml/2006/main"/>
        </p:blipFill>
        <p:spPr>
          <a:xfrm xmlns:a="http://schemas.openxmlformats.org/drawingml/2006/main">
            <a:off x="6419850" y="3314700"/>
            <a:ext cx="4762500" cy="1905000"/>
          </a:xfrm>
          <a:prstGeom xmlns:a="http://schemas.openxmlformats.org/drawingml/2006/main" prst="rect">
            <a:avLst/>
          </a:prstGeom>
        </p:spPr>
      </p:pic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ABF5993-102A-4407-9766-FE2CCB53C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467350"/>
            <a:ext cx="8858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4677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54677C"/>
                </a:solidFill>
                <a:latin typeface="Aptos"/>
                <a:ea typeface="Aptos"/>
                <a:cs typeface="Aptos"/>
              </a:rPr>
              <a:t>Quality selection changes as measured throughput varies, while AI confidence remains high on average.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3ED8FA3-3B1B-4456-B278-5EA77B0BE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results/qos_summary.csv, results/bandwidth_vs_time.png, results/bitrate_vs_time.png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643C6AF-A1E2-4DEF-9BF7-AD0C9F5BB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39566058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10B0BA6-BB4C-45C3-A7C7-049082376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E8EB051F-4511-4860-9BDF-551B0461C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9E64EF3-04BD-4CF5-AA71-BE83A00B0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D16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D166"/>
                </a:solidFill>
                <a:latin typeface="Aptos"/>
                <a:ea typeface="Aptos"/>
                <a:cs typeface="Aptos"/>
              </a:rPr>
              <a:t>DEMO SCRIPT + NEXT STEPS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CB14E-9D28-4D35-B370-402A79C83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F6F2EA"/>
                </a:solidFill>
                <a:latin typeface="Aptos Display"/>
                <a:ea typeface="Aptos Display"/>
                <a:cs typeface="Aptos Display"/>
              </a:rPr>
              <a:t>The project is ready to demonstrate as a controlled QoS experiment.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EAF7C2-5041-4002-B225-2B1ECB898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E1F3F7-6664-4740-BAB0-C3FB47DDB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86762B-EA6F-4F81-AFA1-37A7E32CF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2479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Start Flask server and open the dashboard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A925DD3-1967-47BB-98D4-6FD9ED7C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241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47AA9B-5884-4DFF-9DBB-AC0BEFA69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9B709-794C-41E8-BB8F-E2E21CA1C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7622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Play the generated DASH stream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A9F74D-8813-4E4A-A777-C4E174EF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385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953D2D-6920-4731-9362-1F5A667C8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AE224-2901-4546-85AF-1CF9B8FCB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766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Switch network profile from stable to poor/lossy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B6D4D1-5268-43F1-A7F1-BD5AED76F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528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7F16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3060506-EBB3-4A2A-9912-7A3A59EE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1000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FC5470-FA7C-48B3-9509-7299BE7F2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7909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Show AI lowering bitrate before buffer collapse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7B5277-EB4C-46AC-837A-80CBEFABF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66A07B-108C-4885-925F-DAAAD784C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9F077C-573C-413F-BF6B-39884020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0530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Disable AI to compare normal dash.js ABR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D85A195-14BA-45C6-B5E2-39A840685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781550"/>
            <a:ext cx="323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D166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C05DC7-EBEB-440D-AA75-675F4BB3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38700"/>
            <a:ext cx="3238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defRPr>
            </a:pPr>
            <a:r>
              <a:rPr sz="1125" b="1">
                <a:solidFill>
                  <a:srgbClr val="08111F"/>
                </a:solidFill>
                <a:latin typeface="Aptos Mono"/>
                <a:ea typeface="Aptos Mono"/>
                <a:cs typeface="Aptos Mono"/>
              </a:rPr>
              <a:t>6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28F33A-830E-4544-BE2F-AA9B14BF8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8196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Run analyze_results.py to produce graphs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348EB2-8EE2-45F3-8E00-61F5ACE1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09800"/>
            <a:ext cx="34290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36D1D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8A79BB-A3A5-4DE9-ADF6-CFF1E767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955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9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defRPr>
            </a:pPr>
            <a:r>
              <a:rPr sz="1950" b="1">
                <a:solidFill>
                  <a:srgbClr val="36D1DC"/>
                </a:solidFill>
                <a:latin typeface="Aptos Display"/>
                <a:ea typeface="Aptos Display"/>
                <a:cs typeface="Aptos Display"/>
              </a:rPr>
              <a:t>Future improvements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BC189CC-8733-4609-ACE7-406A5203E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28950"/>
            <a:ext cx="2762250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Train on real network traces</a:t>
            </a:r>
          </a:p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Add VMAF/SSIM quality scoring</a:t>
            </a:r>
          </a:p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Compare ML vs BOLA/throughput ABR</a:t>
            </a:r>
          </a:p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Deploy local dash.js fallback</a:t>
            </a:r>
          </a:p>
          <a:p xmlns:a="http://schemas.openxmlformats.org/drawingml/2006/main">
            <a:pPr algn="l">
              <a:defRPr sz="135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Export richer per-profile reports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67723E-E259-4512-ADA0-EA3123891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638800"/>
            <a:ext cx="8763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Core achievement: real video packaging, real playback, live QoS telemetry, AI quality prediction, and result generation are connected end to end.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51B9039-4292-4550-B8A4-33903186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README.md demo script and project implementation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D86F1AA-7A28-414D-9B7C-ED7312B68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12519541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BB386AC-618F-4D35-815B-05FD6C0F7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2E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" name="kicker-marker">
            <a:extLst xmlns:a="http://schemas.openxmlformats.org/drawingml/2006/main">
              <a:ext uri="{FF2B5EF4-FFF2-40B4-BE49-F238E27FC236}">
                <a16:creationId xmlns:a16="http://schemas.microsoft.com/office/drawing/2014/main" id="{C4B66067-42A0-4B13-A03E-60FE6A235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000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6B5F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kicker-label">
            <a:extLst xmlns:a="http://schemas.openxmlformats.org/drawingml/2006/main">
              <a:ext uri="{FF2B5EF4-FFF2-40B4-BE49-F238E27FC236}">
                <a16:creationId xmlns:a16="http://schemas.microsoft.com/office/drawing/2014/main" id="{79F216AB-7DEB-4591-B9DA-E7715191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33375"/>
            <a:ext cx="3048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6B5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6B5F"/>
                </a:solidFill>
                <a:latin typeface="Aptos"/>
                <a:ea typeface="Aptos"/>
                <a:cs typeface="Aptos"/>
              </a:rPr>
              <a:t>NOVELTY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80BC7D-5710-49D7-8F78-1D2B593FB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723900"/>
            <a:ext cx="7810500" cy="1104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defRPr>
            </a:pPr>
            <a:r>
              <a:rPr sz="3150" b="1">
                <a:solidFill>
                  <a:srgbClr val="08111F"/>
                </a:solidFill>
                <a:latin typeface="Aptos Display"/>
                <a:ea typeface="Aptos Display"/>
                <a:cs typeface="Aptos Display"/>
              </a:rPr>
              <a:t>Our new contribution is a hybrid ML + QoS-risk guard, not just another bitrate switch.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59DCE-720C-435E-9025-FA324EE47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133600"/>
            <a:ext cx="2095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2E7B75-A927-453D-B8FC-B30ED884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47900"/>
            <a:ext cx="1866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Existing method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1C5A1AC-E2F4-44A4-8620-A9E47CF5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133600"/>
            <a:ext cx="24765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5E35EE-6238-4DF5-9E8F-BC14D16D2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47900"/>
            <a:ext cx="2247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Decision basis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DF660F-C8CC-4372-81DC-4CF47E3DF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133600"/>
            <a:ext cx="2714625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F6665E-911F-4710-B3F6-50DDCC6A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247900"/>
            <a:ext cx="2486025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Weakness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E38F1C-9137-4174-81C9-D83CF797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133600"/>
            <a:ext cx="314325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08111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5B887-2E2F-4ED3-B0FB-98F581189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247900"/>
            <a:ext cx="29146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6F2EA"/>
                </a:solidFill>
                <a:latin typeface="Aptos"/>
                <a:ea typeface="Aptos"/>
                <a:cs typeface="Aptos"/>
              </a:rPr>
              <a:t>What we added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B9F313-8857-477D-8FE5-DEDFAE9C7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25527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2A7A64-2EFD-4252-BF2F-EECBCAC1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8605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Throughput ABR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E23BBA-8191-4AC7-99F5-0853CFE1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25527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3670C0-75D6-467C-AF19-9E1FABF23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6860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recent bandwidth estimate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B61B4F-D71B-4666-8140-52450CBCB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55270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D3CDEAA-6D51-4B41-8701-A636B55C0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268605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reactive; can over-upgrade during drops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47814A-7A8F-4794-990D-0F18A93E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5527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EA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874825-FD66-422D-BD99-450DC9B76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26860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uses throughput trend plus risk cap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4A36B0-C7B3-413C-8B32-3AE11DFC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1432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A46CF75-E175-4B69-852C-A29DBAE08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7660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Buffer ABR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ECA8E0-58F6-411A-B1CC-6ED336116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1432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F553C9E-4AA4-456C-9A2D-2687F01E7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766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buffer occupancy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04CB6A6-ED33-403E-877D-9495FEC85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14325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0B4C3BC-DA0E-4B92-AD78-C8E24FBE7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27660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ignores RTT, jitter, and packet loss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3C0FF7-AA40-435B-ADBA-0F2F8E4A0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1432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EA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65C5F75-87F7-44ED-BE26-CC09A2DCC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2766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scores multi-signal QoS risk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2ECCC6-940E-43B2-8798-05C5B3693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373380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CFC19A-E078-453E-92CA-CCBAA95C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dash.js default ABR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979D0A7-73C9-4D33-A37C-7A0185C7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73380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B61C19B-EB77-4545-BDDF-0DD85ED0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86715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player-side ABR rules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0C85F80-A315-4B92-8FAF-0C1545109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73380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BE2CA28-91F7-4530-82E6-405175C4B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386715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less explainable in our demo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3A980FF-F993-4635-8718-9D12AEC3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373380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EA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6E27D63-73BF-401B-AA8F-868BBAA77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86715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logs confidence, risk, and reason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FC76F07-340F-43F4-A198-83972F9A3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4324350"/>
            <a:ext cx="2095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735B643-28B7-4F8F-964A-6AC117004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57700"/>
            <a:ext cx="1866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Plain ML classifier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E008C43-F712-407E-B737-67EA3C585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324350"/>
            <a:ext cx="247650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D597B8A-86E9-44A2-97FB-5CD7B49A6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457700"/>
            <a:ext cx="22479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model output only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D4EEAD20-552F-4CF6-98DE-A2C3D2351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4324350"/>
            <a:ext cx="2714625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2D8DE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DC78E12-FC6A-44E8-B581-B5304D482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76850" y="4457700"/>
            <a:ext cx="248602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optimistic predictions can be unsafe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BCB5CB5-7C30-4271-99A8-27E4C0381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4324350"/>
            <a:ext cx="3143250" cy="590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F8EA"/>
          </a:solidFill>
          <a:ln xmlns:a="http://schemas.openxmlformats.org/drawingml/2006/main" w="9525">
            <a:solidFill>
              <a:srgbClr val="B7F16A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129F025-58FA-4C52-BACA-8F5974B0B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57700"/>
            <a:ext cx="29146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08111F"/>
                </a:solidFill>
                <a:latin typeface="Aptos"/>
                <a:ea typeface="Aptos"/>
                <a:cs typeface="Aptos"/>
              </a:rPr>
              <a:t>guard holds/downshifts when risk is high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BEDBD9C5-B702-4ED0-B52F-163CDBC4F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010150"/>
            <a:ext cx="9620250" cy="704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236"/>
          </a:solidFill>
          <a:ln xmlns:a="http://schemas.openxmlformats.org/drawingml/2006/main" w="9525">
            <a:solidFill>
              <a:srgbClr val="FF6B5F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7D3F425-4444-4F99-95AA-EC128D423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1714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defRPr>
            </a:pPr>
            <a:r>
              <a:rPr sz="1500" b="1">
                <a:solidFill>
                  <a:srgbClr val="FF6B5F"/>
                </a:solidFill>
                <a:latin typeface="Aptos Display"/>
                <a:ea typeface="Aptos Display"/>
                <a:cs typeface="Aptos Display"/>
              </a:rPr>
              <a:t>Novel methodology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58AFFD7-1321-4CE3-926A-FDDAF4C68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162550"/>
            <a:ext cx="6858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F6F2EA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F6F2EA"/>
                </a:solidFill>
                <a:latin typeface="Aptos"/>
                <a:ea typeface="Aptos"/>
                <a:cs typeface="Aptos"/>
              </a:rPr>
              <a:t>Random Forest predicts quality; QoS-Risk Guard computes a 0-1 risk score from low buffer, throughput drop, high RTT, packet loss, and jitter, then caps unsafe upgrades or triggers downshift.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96434A4-0498-431B-8BB5-03932534C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438900"/>
            <a:ext cx="723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EA3B8"/>
                </a:solidFill>
                <a:latin typeface="Aptos"/>
                <a:ea typeface="Aptos"/>
                <a:cs typeface="Aptos"/>
              </a:defRPr>
            </a:pPr>
            <a:r>
              <a:rPr sz="750" b="0">
                <a:solidFill>
                  <a:srgbClr val="8EA3B8"/>
                </a:solidFill>
                <a:latin typeface="Aptos"/>
                <a:ea typeface="Aptos"/>
                <a:cs typeface="Aptos"/>
              </a:rPr>
              <a:t>Source: updated ai_model.py PredictionResult risk_score and protection_action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4C3D90-06DA-4387-ACC0-B46103FA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6438900"/>
            <a:ext cx="5143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defRPr>
            </a:pPr>
            <a:r>
              <a:rPr sz="825" b="0">
                <a:solidFill>
                  <a:srgbClr val="8EA3B8"/>
                </a:solidFill>
                <a:latin typeface="Aptos Mono"/>
                <a:ea typeface="Aptos Mono"/>
                <a:cs typeface="Aptos Mon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0026036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2026-06-11T13:47:03.8240000Z</dcterms:created>
  <dcterms:modified xsi:type="dcterms:W3CDTF">2026-06-11T13:47:03.8240000Z</dcterms:modified>
</coreProperties>
</file>