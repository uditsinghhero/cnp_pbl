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8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7E8B4DC-EFF4-49BC-B2BB-F34DD6FB56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6F47432-7CC2-471D-B107-DF76248EBBB8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EE1B6E6-40F1-4BF3-BA92-F1BF4604FEAB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B7F1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F16A"/>
                </a:solidFill>
                <a:latin typeface="Aptos"/>
                <a:ea typeface="Aptos"/>
                <a:cs typeface="Aptos"/>
              </a:rPr>
              <a:t>QUALITY BASED VIDEO STREAMING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7505BB-13EC-4338-99FE-B53F7CBA432E}"/>
              </a:ext>
            </a:extLst>
          </p:cNvPr>
          <p:cNvSpPr>
            <a:spLocks noGrp="1"/>
          </p:cNvSpPr>
          <p:nvPr/>
        </p:nvSpPr>
        <p:spPr>
          <a:xfrm>
            <a:off x="514350" y="990600"/>
            <a:ext cx="7239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AI-Driven Adaptive DASH Streaming for Enhanced Video QoS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0BD8C6-6143-46BE-9AEE-C438CC89D324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6477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A real MPEG-DASH demo where browser QoS telemetry feeds a Random Forest bitrate controller, applies video quality through dash.js, and logs evidence for analysis.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56272D-BA20-4F90-9A4F-C4606F71D0DB}"/>
              </a:ext>
            </a:extLst>
          </p:cNvPr>
          <p:cNvSpPr>
            <a:spLocks noGrp="1"/>
          </p:cNvSpPr>
          <p:nvPr/>
        </p:nvSpPr>
        <p:spPr>
          <a:xfrm>
            <a:off x="552450" y="3886200"/>
            <a:ext cx="2095500" cy="876300"/>
          </a:xfrm>
          <a:prstGeom prst="rect">
            <a:avLst/>
          </a:prstGeom>
          <a:solidFill>
            <a:srgbClr val="0F2032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B562A1-354C-496B-BBEB-F67C28F64AEB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177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3CFE06-FFDE-488F-B279-56848EABB0ED}"/>
              </a:ext>
            </a:extLst>
          </p:cNvPr>
          <p:cNvSpPr>
            <a:spLocks noGrp="1"/>
          </p:cNvSpPr>
          <p:nvPr/>
        </p:nvSpPr>
        <p:spPr>
          <a:xfrm>
            <a:off x="723900" y="4371975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logged playback samples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AE2F8A-1181-4847-951A-E728A9A27DB8}"/>
              </a:ext>
            </a:extLst>
          </p:cNvPr>
          <p:cNvSpPr>
            <a:spLocks noGrp="1"/>
          </p:cNvSpPr>
          <p:nvPr/>
        </p:nvSpPr>
        <p:spPr>
          <a:xfrm>
            <a:off x="2914650" y="3886200"/>
            <a:ext cx="2095500" cy="876300"/>
          </a:xfrm>
          <a:prstGeom prst="rect">
            <a:avLst/>
          </a:prstGeom>
          <a:solidFill>
            <a:srgbClr val="0F2032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51D8C9-40DC-4CE1-B08A-1DEB15FFF90B}"/>
              </a:ext>
            </a:extLst>
          </p:cNvPr>
          <p:cNvSpPr>
            <a:spLocks noGrp="1"/>
          </p:cNvSpPr>
          <p:nvPr/>
        </p:nvSpPr>
        <p:spPr>
          <a:xfrm>
            <a:off x="3086100" y="398145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0.882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097223-9DF9-4872-9F0A-7596A08AC783}"/>
              </a:ext>
            </a:extLst>
          </p:cNvPr>
          <p:cNvSpPr>
            <a:spLocks noGrp="1"/>
          </p:cNvSpPr>
          <p:nvPr/>
        </p:nvSpPr>
        <p:spPr>
          <a:xfrm>
            <a:off x="3086100" y="4371975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average AI confidence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10ADD4-167B-42EF-8D98-ECEE01ED4AD5}"/>
              </a:ext>
            </a:extLst>
          </p:cNvPr>
          <p:cNvSpPr>
            <a:spLocks noGrp="1"/>
          </p:cNvSpPr>
          <p:nvPr/>
        </p:nvSpPr>
        <p:spPr>
          <a:xfrm>
            <a:off x="5276850" y="3886200"/>
            <a:ext cx="2095500" cy="876300"/>
          </a:xfrm>
          <a:prstGeom prst="rect">
            <a:avLst/>
          </a:prstGeom>
          <a:solidFill>
            <a:srgbClr val="0F2032"/>
          </a:solidFill>
          <a:ln w="9525">
            <a:solidFill>
              <a:srgbClr val="FF6B5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B11CEE-D842-4463-B427-8D22F808E098}"/>
              </a:ext>
            </a:extLst>
          </p:cNvPr>
          <p:cNvSpPr>
            <a:spLocks noGrp="1"/>
          </p:cNvSpPr>
          <p:nvPr/>
        </p:nvSpPr>
        <p:spPr>
          <a:xfrm>
            <a:off x="5448300" y="398145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37ECC4-FB5F-436F-93A2-6CFA664F81FB}"/>
              </a:ext>
            </a:extLst>
          </p:cNvPr>
          <p:cNvSpPr>
            <a:spLocks noGrp="1"/>
          </p:cNvSpPr>
          <p:nvPr/>
        </p:nvSpPr>
        <p:spPr>
          <a:xfrm>
            <a:off x="5448300" y="4371975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quality switches recorded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7478E8-D45E-4ABA-B4CF-CA0301078359}"/>
              </a:ext>
            </a:extLst>
          </p:cNvPr>
          <p:cNvSpPr>
            <a:spLocks noGrp="1"/>
          </p:cNvSpPr>
          <p:nvPr/>
        </p:nvSpPr>
        <p:spPr>
          <a:xfrm>
            <a:off x="8382000" y="1085850"/>
            <a:ext cx="2667000" cy="3714750"/>
          </a:xfrm>
          <a:prstGeom prst="rect">
            <a:avLst/>
          </a:prstGeom>
          <a:solidFill>
            <a:srgbClr val="0E1E30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0269B-8920-47CA-AA98-05EFD25876AA}"/>
              </a:ext>
            </a:extLst>
          </p:cNvPr>
          <p:cNvSpPr>
            <a:spLocks noGrp="1"/>
          </p:cNvSpPr>
          <p:nvPr/>
        </p:nvSpPr>
        <p:spPr>
          <a:xfrm>
            <a:off x="8820150" y="1543050"/>
            <a:ext cx="819150" cy="552450"/>
          </a:xfrm>
          <a:prstGeom prst="rect">
            <a:avLst/>
          </a:prstGeom>
          <a:solidFill>
            <a:srgbClr val="152A41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EB3AD2-AC21-4F2B-9906-8E0EF9A90A15}"/>
              </a:ext>
            </a:extLst>
          </p:cNvPr>
          <p:cNvSpPr>
            <a:spLocks noGrp="1"/>
          </p:cNvSpPr>
          <p:nvPr/>
        </p:nvSpPr>
        <p:spPr>
          <a:xfrm>
            <a:off x="8820150" y="169545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Video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815D48-4FAD-42D4-A686-67149939FD88}"/>
              </a:ext>
            </a:extLst>
          </p:cNvPr>
          <p:cNvSpPr>
            <a:spLocks noGrp="1"/>
          </p:cNvSpPr>
          <p:nvPr/>
        </p:nvSpPr>
        <p:spPr>
          <a:xfrm>
            <a:off x="9886950" y="1543050"/>
            <a:ext cx="819150" cy="552450"/>
          </a:xfrm>
          <a:prstGeom prst="rect">
            <a:avLst/>
          </a:prstGeom>
          <a:solidFill>
            <a:srgbClr val="152A41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135342-9B91-4A99-8C3D-3F2A200A8974}"/>
              </a:ext>
            </a:extLst>
          </p:cNvPr>
          <p:cNvSpPr>
            <a:spLocks noGrp="1"/>
          </p:cNvSpPr>
          <p:nvPr/>
        </p:nvSpPr>
        <p:spPr>
          <a:xfrm>
            <a:off x="9886950" y="169545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DASH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84069C-F17A-41CF-AF2C-DE8A85752132}"/>
              </a:ext>
            </a:extLst>
          </p:cNvPr>
          <p:cNvSpPr>
            <a:spLocks noGrp="1"/>
          </p:cNvSpPr>
          <p:nvPr/>
        </p:nvSpPr>
        <p:spPr>
          <a:xfrm>
            <a:off x="8820150" y="2552700"/>
            <a:ext cx="819150" cy="552450"/>
          </a:xfrm>
          <a:prstGeom prst="rect">
            <a:avLst/>
          </a:prstGeom>
          <a:solidFill>
            <a:srgbClr val="152A41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8A5DFB-2036-49DA-949C-91B88A160863}"/>
              </a:ext>
            </a:extLst>
          </p:cNvPr>
          <p:cNvSpPr>
            <a:spLocks noGrp="1"/>
          </p:cNvSpPr>
          <p:nvPr/>
        </p:nvSpPr>
        <p:spPr>
          <a:xfrm>
            <a:off x="8820150" y="270510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QoS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751281-882C-483D-8D4B-B253A9636806}"/>
              </a:ext>
            </a:extLst>
          </p:cNvPr>
          <p:cNvSpPr>
            <a:spLocks noGrp="1"/>
          </p:cNvSpPr>
          <p:nvPr/>
        </p:nvSpPr>
        <p:spPr>
          <a:xfrm>
            <a:off x="9886950" y="2552700"/>
            <a:ext cx="819150" cy="552450"/>
          </a:xfrm>
          <a:prstGeom prst="rect">
            <a:avLst/>
          </a:prstGeom>
          <a:solidFill>
            <a:srgbClr val="B7F16A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9CB35C-193B-48F5-802C-BD343E163684}"/>
              </a:ext>
            </a:extLst>
          </p:cNvPr>
          <p:cNvSpPr>
            <a:spLocks noGrp="1"/>
          </p:cNvSpPr>
          <p:nvPr/>
        </p:nvSpPr>
        <p:spPr>
          <a:xfrm>
            <a:off x="9886950" y="270510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550BB2-E7DA-475F-B8C4-497F2F938BB3}"/>
              </a:ext>
            </a:extLst>
          </p:cNvPr>
          <p:cNvSpPr>
            <a:spLocks noGrp="1"/>
          </p:cNvSpPr>
          <p:nvPr/>
        </p:nvSpPr>
        <p:spPr>
          <a:xfrm>
            <a:off x="8820150" y="3562350"/>
            <a:ext cx="819150" cy="552450"/>
          </a:xfrm>
          <a:prstGeom prst="rect">
            <a:avLst/>
          </a:prstGeom>
          <a:solidFill>
            <a:srgbClr val="152A41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98AD54-8246-41D6-8589-D54942CAE3C6}"/>
              </a:ext>
            </a:extLst>
          </p:cNvPr>
          <p:cNvSpPr>
            <a:spLocks noGrp="1"/>
          </p:cNvSpPr>
          <p:nvPr/>
        </p:nvSpPr>
        <p:spPr>
          <a:xfrm>
            <a:off x="8820150" y="371475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B9CEBB-514E-454C-A218-F60AD08DBB83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Project stack: FFmpeg + Flask + dash.js + Scikit-learn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D6A9A8-3701-4BF7-9E2F-F9EFD70E629F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README.md, results/qos_summary.csv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CFB89C-F655-4DF1-AB07-225916160E8C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8228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9350F48-D09A-4062-844A-436D62E31A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36C5A0A7-178A-44F6-ABAC-A12D555C089E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FF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9E335D0-5143-4DF4-B1EA-F50B05A57ABF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6B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5F"/>
                </a:solidFill>
                <a:latin typeface="Aptos"/>
                <a:ea typeface="Aptos"/>
                <a:cs typeface="Aptos"/>
              </a:rPr>
              <a:t>STREAMING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A28B0F-018E-4F74-BC9D-81CCE1D28385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Quality drops happen before a player can explain them.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D93DAA-9FFA-490E-913A-2EAAB1A84254}"/>
              </a:ext>
            </a:extLst>
          </p:cNvPr>
          <p:cNvSpPr>
            <a:spLocks noGrp="1"/>
          </p:cNvSpPr>
          <p:nvPr/>
        </p:nvSpPr>
        <p:spPr>
          <a:xfrm>
            <a:off x="552450" y="184785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The controller watches multiple QoS signals together instead of trusting bandwidth alone.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75AF7B-D12D-412B-BB2B-027095A7389F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4191000" cy="876300"/>
          </a:xfrm>
          <a:prstGeom prst="rect">
            <a:avLst/>
          </a:prstGeom>
          <a:solidFill>
            <a:srgbClr val="102236"/>
          </a:solidFill>
          <a:ln w="9525">
            <a:solidFill>
              <a:srgbClr val="FF6B5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C136BD-D2C4-42C9-AB3E-0DED6B818177}"/>
              </a:ext>
            </a:extLst>
          </p:cNvPr>
          <p:cNvSpPr>
            <a:spLocks noGrp="1"/>
          </p:cNvSpPr>
          <p:nvPr/>
        </p:nvSpPr>
        <p:spPr>
          <a:xfrm>
            <a:off x="933450" y="30289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Low throughput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98E859-618F-4DA9-BC2D-62A8953CDF2D}"/>
              </a:ext>
            </a:extLst>
          </p:cNvPr>
          <p:cNvSpPr>
            <a:spLocks noGrp="1"/>
          </p:cNvSpPr>
          <p:nvPr/>
        </p:nvSpPr>
        <p:spPr>
          <a:xfrm>
            <a:off x="933450" y="3362325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higher rebuffer risk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D24BFC-A47B-4C5F-8EC1-5474A952136C}"/>
              </a:ext>
            </a:extLst>
          </p:cNvPr>
          <p:cNvSpPr>
            <a:spLocks noGrp="1"/>
          </p:cNvSpPr>
          <p:nvPr/>
        </p:nvSpPr>
        <p:spPr>
          <a:xfrm>
            <a:off x="5676900" y="2857500"/>
            <a:ext cx="4191000" cy="876300"/>
          </a:xfrm>
          <a:prstGeom prst="rect">
            <a:avLst/>
          </a:prstGeom>
          <a:solidFill>
            <a:srgbClr val="102236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2A353E-1ED7-4C43-A425-7B9A3E8A7F58}"/>
              </a:ext>
            </a:extLst>
          </p:cNvPr>
          <p:cNvSpPr>
            <a:spLocks noGrp="1"/>
          </p:cNvSpPr>
          <p:nvPr/>
        </p:nvSpPr>
        <p:spPr>
          <a:xfrm>
            <a:off x="5886450" y="30289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Low buffer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8FED43-1496-4521-A8BC-342A46907E2E}"/>
              </a:ext>
            </a:extLst>
          </p:cNvPr>
          <p:cNvSpPr>
            <a:spLocks noGrp="1"/>
          </p:cNvSpPr>
          <p:nvPr/>
        </p:nvSpPr>
        <p:spPr>
          <a:xfrm>
            <a:off x="5886450" y="3362325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quality must step down early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C35015-F1C1-4D6A-B484-0DF58AE87CD8}"/>
              </a:ext>
            </a:extLst>
          </p:cNvPr>
          <p:cNvSpPr>
            <a:spLocks noGrp="1"/>
          </p:cNvSpPr>
          <p:nvPr/>
        </p:nvSpPr>
        <p:spPr>
          <a:xfrm>
            <a:off x="723900" y="4114800"/>
            <a:ext cx="4191000" cy="876300"/>
          </a:xfrm>
          <a:prstGeom prst="rect">
            <a:avLst/>
          </a:prstGeom>
          <a:solidFill>
            <a:srgbClr val="102236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A9E834-DECE-46B7-A460-78A21E7A851E}"/>
              </a:ext>
            </a:extLst>
          </p:cNvPr>
          <p:cNvSpPr>
            <a:spLocks noGrp="1"/>
          </p:cNvSpPr>
          <p:nvPr/>
        </p:nvSpPr>
        <p:spPr>
          <a:xfrm>
            <a:off x="933450" y="42862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High RTT + jitter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F06F30-C9E3-4FAC-A8CB-3E2885AE22B8}"/>
              </a:ext>
            </a:extLst>
          </p:cNvPr>
          <p:cNvSpPr>
            <a:spLocks noGrp="1"/>
          </p:cNvSpPr>
          <p:nvPr/>
        </p:nvSpPr>
        <p:spPr>
          <a:xfrm>
            <a:off x="933450" y="4619625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late segment arrival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AEFE36-681B-4AE8-88C7-E9B17B18661B}"/>
              </a:ext>
            </a:extLst>
          </p:cNvPr>
          <p:cNvSpPr>
            <a:spLocks noGrp="1"/>
          </p:cNvSpPr>
          <p:nvPr/>
        </p:nvSpPr>
        <p:spPr>
          <a:xfrm>
            <a:off x="5676900" y="4114800"/>
            <a:ext cx="4191000" cy="876300"/>
          </a:xfrm>
          <a:prstGeom prst="rect">
            <a:avLst/>
          </a:prstGeom>
          <a:solidFill>
            <a:srgbClr val="102236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8D9B47-A959-48B4-B726-51BE0F251667}"/>
              </a:ext>
            </a:extLst>
          </p:cNvPr>
          <p:cNvSpPr>
            <a:spLocks noGrp="1"/>
          </p:cNvSpPr>
          <p:nvPr/>
        </p:nvSpPr>
        <p:spPr>
          <a:xfrm>
            <a:off x="5886450" y="42862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rPr>
              <a:t>Packet loss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D20D0E-489E-4FBD-A5E3-E6729F31D6D5}"/>
              </a:ext>
            </a:extLst>
          </p:cNvPr>
          <p:cNvSpPr>
            <a:spLocks noGrp="1"/>
          </p:cNvSpPr>
          <p:nvPr/>
        </p:nvSpPr>
        <p:spPr>
          <a:xfrm>
            <a:off x="5886450" y="4619625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capacity estimate becomes unsafe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10F792-BF1C-4C60-91A4-E1B5F9E0033C}"/>
              </a:ext>
            </a:extLst>
          </p:cNvPr>
          <p:cNvSpPr>
            <a:spLocks noGrp="1"/>
          </p:cNvSpPr>
          <p:nvPr/>
        </p:nvSpPr>
        <p:spPr>
          <a:xfrm>
            <a:off x="8172450" y="1543050"/>
            <a:ext cx="3048000" cy="819150"/>
          </a:xfrm>
          <a:prstGeom prst="rect">
            <a:avLst/>
          </a:prstGeom>
          <a:solidFill>
            <a:srgbClr val="0F2032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2FE53B-CD9A-45C5-B148-0E7C07A9156C}"/>
              </a:ext>
            </a:extLst>
          </p:cNvPr>
          <p:cNvSpPr>
            <a:spLocks noGrp="1"/>
          </p:cNvSpPr>
          <p:nvPr/>
        </p:nvSpPr>
        <p:spPr>
          <a:xfrm>
            <a:off x="8420100" y="1752600"/>
            <a:ext cx="2552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QoS signals must become a quality decision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CEA466-D631-4249-903D-6CFB06891674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ai_model.py feature set and player.js telemetry loop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C40FBD-2553-45B2-8428-264C37CA7D81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3196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6DB0ED8-F44C-4251-A076-A088E7251C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8FF61D61-8538-4EA8-AF11-4F19C7C7C915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36D1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B2F324F-EB79-45BC-BB27-A714E4216F74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36D1D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6D1DC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0CB270-89BA-4B30-9EDE-A35C24B1B877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The implementation closes the loop from playback telemetry to quality switching.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98CABC-7477-4E4B-AFEA-ED0944B7CE5A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1619250" cy="1066800"/>
          </a:xfrm>
          <a:prstGeom prst="rect">
            <a:avLst/>
          </a:prstGeom>
          <a:solidFill>
            <a:srgbClr val="102236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DFD30D-A7A8-46BD-8A36-FC475D1D7D1B}"/>
              </a:ext>
            </a:extLst>
          </p:cNvPr>
          <p:cNvSpPr>
            <a:spLocks noGrp="1"/>
          </p:cNvSpPr>
          <p:nvPr/>
        </p:nvSpPr>
        <p:spPr>
          <a:xfrm>
            <a:off x="704850" y="30289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Input video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3F8D39-62E6-48AA-B355-9896A15BCF45}"/>
              </a:ext>
            </a:extLst>
          </p:cNvPr>
          <p:cNvSpPr>
            <a:spLocks noGrp="1"/>
          </p:cNvSpPr>
          <p:nvPr/>
        </p:nvSpPr>
        <p:spPr>
          <a:xfrm>
            <a:off x="704850" y="3371850"/>
            <a:ext cx="1352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sample.mp4 / dataset video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FC2571-A0ED-4302-A97C-CDD2C90B5389}"/>
              </a:ext>
            </a:extLst>
          </p:cNvPr>
          <p:cNvSpPr>
            <a:spLocks noGrp="1"/>
          </p:cNvSpPr>
          <p:nvPr/>
        </p:nvSpPr>
        <p:spPr>
          <a:xfrm>
            <a:off x="2762250" y="2857500"/>
            <a:ext cx="1619250" cy="1066800"/>
          </a:xfrm>
          <a:prstGeom prst="rect">
            <a:avLst/>
          </a:prstGeom>
          <a:solidFill>
            <a:srgbClr val="102236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10E366-3890-4FBF-96D6-479720F18BE6}"/>
              </a:ext>
            </a:extLst>
          </p:cNvPr>
          <p:cNvSpPr>
            <a:spLocks noGrp="1"/>
          </p:cNvSpPr>
          <p:nvPr/>
        </p:nvSpPr>
        <p:spPr>
          <a:xfrm>
            <a:off x="2895600" y="30289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FFmpeg DASH packager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B93ABD-996B-43AE-A82E-6CFB3F19BBFB}"/>
              </a:ext>
            </a:extLst>
          </p:cNvPr>
          <p:cNvSpPr>
            <a:spLocks noGrp="1"/>
          </p:cNvSpPr>
          <p:nvPr/>
        </p:nvSpPr>
        <p:spPr>
          <a:xfrm>
            <a:off x="2895600" y="3371850"/>
            <a:ext cx="1352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4-second segments + manifest.mpd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5BB2B7-12A3-4832-8A75-E16E4317B01C}"/>
              </a:ext>
            </a:extLst>
          </p:cNvPr>
          <p:cNvSpPr>
            <a:spLocks noGrp="1"/>
          </p:cNvSpPr>
          <p:nvPr/>
        </p:nvSpPr>
        <p:spPr>
          <a:xfrm>
            <a:off x="5257800" y="2857500"/>
            <a:ext cx="1619250" cy="1066800"/>
          </a:xfrm>
          <a:prstGeom prst="rect">
            <a:avLst/>
          </a:prstGeom>
          <a:solidFill>
            <a:srgbClr val="102236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099AD-D765-4C1D-A67C-FFD30759EAA6}"/>
              </a:ext>
            </a:extLst>
          </p:cNvPr>
          <p:cNvSpPr>
            <a:spLocks noGrp="1"/>
          </p:cNvSpPr>
          <p:nvPr/>
        </p:nvSpPr>
        <p:spPr>
          <a:xfrm>
            <a:off x="5391150" y="30289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rPr>
              <a:t>Flask server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55A6F3-3A24-4A43-A260-97EE0AD370A9}"/>
              </a:ext>
            </a:extLst>
          </p:cNvPr>
          <p:cNvSpPr>
            <a:spLocks noGrp="1"/>
          </p:cNvSpPr>
          <p:nvPr/>
        </p:nvSpPr>
        <p:spPr>
          <a:xfrm>
            <a:off x="5391150" y="3371850"/>
            <a:ext cx="1352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segments + prediction API + logging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A29A72-0919-4C9F-94EA-5126BBDE9C08}"/>
              </a:ext>
            </a:extLst>
          </p:cNvPr>
          <p:cNvSpPr>
            <a:spLocks noGrp="1"/>
          </p:cNvSpPr>
          <p:nvPr/>
        </p:nvSpPr>
        <p:spPr>
          <a:xfrm>
            <a:off x="7753350" y="2857500"/>
            <a:ext cx="1619250" cy="1066800"/>
          </a:xfrm>
          <a:prstGeom prst="rect">
            <a:avLst/>
          </a:prstGeom>
          <a:solidFill>
            <a:srgbClr val="102236"/>
          </a:solidFill>
          <a:ln w="9525">
            <a:solidFill>
              <a:srgbClr val="FF6B5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BA3025-1D3F-47C7-A1F2-2C5164D7DCE6}"/>
              </a:ext>
            </a:extLst>
          </p:cNvPr>
          <p:cNvSpPr>
            <a:spLocks noGrp="1"/>
          </p:cNvSpPr>
          <p:nvPr/>
        </p:nvSpPr>
        <p:spPr>
          <a:xfrm>
            <a:off x="7886700" y="30289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Browser player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3BCD54-3793-492F-AA4E-5ABCB7DE65E8}"/>
              </a:ext>
            </a:extLst>
          </p:cNvPr>
          <p:cNvSpPr>
            <a:spLocks noGrp="1"/>
          </p:cNvSpPr>
          <p:nvPr/>
        </p:nvSpPr>
        <p:spPr>
          <a:xfrm>
            <a:off x="7886700" y="3371850"/>
            <a:ext cx="1352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dash.js playback dashboard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22818F-ABE1-43A1-8F63-CF6D652F5CE2}"/>
              </a:ext>
            </a:extLst>
          </p:cNvPr>
          <p:cNvSpPr>
            <a:spLocks noGrp="1"/>
          </p:cNvSpPr>
          <p:nvPr/>
        </p:nvSpPr>
        <p:spPr>
          <a:xfrm>
            <a:off x="9867900" y="2857500"/>
            <a:ext cx="1619250" cy="1066800"/>
          </a:xfrm>
          <a:prstGeom prst="rect">
            <a:avLst/>
          </a:prstGeom>
          <a:solidFill>
            <a:srgbClr val="102236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407799-DC57-4D5C-9318-BFE7602D5268}"/>
              </a:ext>
            </a:extLst>
          </p:cNvPr>
          <p:cNvSpPr>
            <a:spLocks noGrp="1"/>
          </p:cNvSpPr>
          <p:nvPr/>
        </p:nvSpPr>
        <p:spPr>
          <a:xfrm>
            <a:off x="10001250" y="30289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Result analysis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804967-CA31-4FD9-A847-6F066AC760BE}"/>
              </a:ext>
            </a:extLst>
          </p:cNvPr>
          <p:cNvSpPr>
            <a:spLocks noGrp="1"/>
          </p:cNvSpPr>
          <p:nvPr/>
        </p:nvSpPr>
        <p:spPr>
          <a:xfrm>
            <a:off x="10001250" y="3371850"/>
            <a:ext cx="1352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QoS graphs + summary CSV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28827747-E437-4B06-B14B-698A169C14CF}"/>
              </a:ext>
            </a:extLst>
          </p:cNvPr>
          <p:cNvSpPr>
            <a:spLocks noGrp="1"/>
          </p:cNvSpPr>
          <p:nvPr/>
        </p:nvSpPr>
        <p:spPr>
          <a:xfrm>
            <a:off x="2190750" y="3390900"/>
            <a:ext cx="4000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8EA3B8"/>
            </a:solidFill>
            <a:prstDash val="solid"/>
          </a:ln>
        </p:spPr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83F4AAB-A961-4724-A695-94545D838266}"/>
              </a:ext>
            </a:extLst>
          </p:cNvPr>
          <p:cNvSpPr>
            <a:spLocks noGrp="1"/>
          </p:cNvSpPr>
          <p:nvPr/>
        </p:nvSpPr>
        <p:spPr>
          <a:xfrm>
            <a:off x="2533650" y="3343275"/>
            <a:ext cx="95250" cy="95250"/>
          </a:xfrm>
          <a:prstGeom prst="triangle">
            <a:avLst/>
          </a:prstGeom>
          <a:solidFill>
            <a:srgbClr val="8E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13248644-AEEF-47D4-AB72-E984E24EE91F}"/>
              </a:ext>
            </a:extLst>
          </p:cNvPr>
          <p:cNvSpPr>
            <a:spLocks noGrp="1"/>
          </p:cNvSpPr>
          <p:nvPr/>
        </p:nvSpPr>
        <p:spPr>
          <a:xfrm>
            <a:off x="4686300" y="3390900"/>
            <a:ext cx="4000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8EA3B8"/>
            </a:solidFill>
            <a:prstDash val="solid"/>
          </a:ln>
        </p:spPr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A4D2E14-64B3-428B-AE41-B70E96804C79}"/>
              </a:ext>
            </a:extLst>
          </p:cNvPr>
          <p:cNvSpPr>
            <a:spLocks noGrp="1"/>
          </p:cNvSpPr>
          <p:nvPr/>
        </p:nvSpPr>
        <p:spPr>
          <a:xfrm>
            <a:off x="5029200" y="3343275"/>
            <a:ext cx="95250" cy="95250"/>
          </a:xfrm>
          <a:prstGeom prst="triangle">
            <a:avLst/>
          </a:prstGeom>
          <a:solidFill>
            <a:srgbClr val="8E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6948A1C3-A110-4E6A-96C1-2B86BC4424FF}"/>
              </a:ext>
            </a:extLst>
          </p:cNvPr>
          <p:cNvSpPr>
            <a:spLocks noGrp="1"/>
          </p:cNvSpPr>
          <p:nvPr/>
        </p:nvSpPr>
        <p:spPr>
          <a:xfrm>
            <a:off x="7181850" y="3390900"/>
            <a:ext cx="4000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8EA3B8"/>
            </a:solidFill>
            <a:prstDash val="solid"/>
          </a:ln>
        </p:spPr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496C221D-97C2-4C8A-885C-B833490BA86B}"/>
              </a:ext>
            </a:extLst>
          </p:cNvPr>
          <p:cNvSpPr>
            <a:spLocks noGrp="1"/>
          </p:cNvSpPr>
          <p:nvPr/>
        </p:nvSpPr>
        <p:spPr>
          <a:xfrm>
            <a:off x="7524750" y="3343275"/>
            <a:ext cx="95250" cy="95250"/>
          </a:xfrm>
          <a:prstGeom prst="triangle">
            <a:avLst/>
          </a:prstGeom>
          <a:solidFill>
            <a:srgbClr val="8E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75382EA7-E011-49E0-BACE-1F11733D20E3}"/>
              </a:ext>
            </a:extLst>
          </p:cNvPr>
          <p:cNvSpPr>
            <a:spLocks noGrp="1"/>
          </p:cNvSpPr>
          <p:nvPr/>
        </p:nvSpPr>
        <p:spPr>
          <a:xfrm>
            <a:off x="9296400" y="3390900"/>
            <a:ext cx="4000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8EA3B8"/>
            </a:solidFill>
            <a:prstDash val="solid"/>
          </a:ln>
        </p:spPr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23981BDB-22FA-44FD-BA87-0B85A9AB5F1D}"/>
              </a:ext>
            </a:extLst>
          </p:cNvPr>
          <p:cNvSpPr>
            <a:spLocks noGrp="1"/>
          </p:cNvSpPr>
          <p:nvPr/>
        </p:nvSpPr>
        <p:spPr>
          <a:xfrm>
            <a:off x="9639300" y="3343275"/>
            <a:ext cx="95250" cy="95250"/>
          </a:xfrm>
          <a:prstGeom prst="triangle">
            <a:avLst/>
          </a:prstGeom>
          <a:solidFill>
            <a:srgbClr val="8E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022347-4D11-4A95-9CDC-9931087FB17B}"/>
              </a:ext>
            </a:extLst>
          </p:cNvPr>
          <p:cNvSpPr>
            <a:spLocks noGrp="1"/>
          </p:cNvSpPr>
          <p:nvPr/>
        </p:nvSpPr>
        <p:spPr>
          <a:xfrm>
            <a:off x="7162800" y="4267200"/>
            <a:ext cx="2247900" cy="914400"/>
          </a:xfrm>
          <a:prstGeom prst="rect">
            <a:avLst/>
          </a:prstGeom>
          <a:solidFill>
            <a:srgbClr val="132A42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4301AE-C421-45E3-8921-BD10A3319494}"/>
              </a:ext>
            </a:extLst>
          </p:cNvPr>
          <p:cNvSpPr>
            <a:spLocks noGrp="1"/>
          </p:cNvSpPr>
          <p:nvPr/>
        </p:nvSpPr>
        <p:spPr>
          <a:xfrm>
            <a:off x="7372350" y="44386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rPr>
              <a:t>Random Forest predictor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9F583-5CDB-40E3-8151-AFD4ABD771C6}"/>
              </a:ext>
            </a:extLst>
          </p:cNvPr>
          <p:cNvSpPr>
            <a:spLocks noGrp="1"/>
          </p:cNvSpPr>
          <p:nvPr/>
        </p:nvSpPr>
        <p:spPr>
          <a:xfrm>
            <a:off x="7372350" y="472440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Inputs: throughput, previous throughput, buffer, latency, packet loss, jitter, current quality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FEED0CC5-703F-461D-8205-11744E9B6B51}"/>
              </a:ext>
            </a:extLst>
          </p:cNvPr>
          <p:cNvSpPr>
            <a:spLocks noGrp="1"/>
          </p:cNvSpPr>
          <p:nvPr/>
        </p:nvSpPr>
        <p:spPr>
          <a:xfrm>
            <a:off x="8286750" y="4267200"/>
            <a:ext cx="9525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B7F16A"/>
            </a:solidFill>
            <a:prstDash val="solid"/>
          </a:ln>
        </p:spPr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AD4CC7DB-5B22-4754-8532-DEA707B246E2}"/>
              </a:ext>
            </a:extLst>
          </p:cNvPr>
          <p:cNvSpPr>
            <a:spLocks noGrp="1"/>
          </p:cNvSpPr>
          <p:nvPr/>
        </p:nvSpPr>
        <p:spPr>
          <a:xfrm>
            <a:off x="8229600" y="3895725"/>
            <a:ext cx="95250" cy="95250"/>
          </a:xfrm>
          <a:prstGeom prst="triangle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300949-4E8B-4F21-919D-BABB2769863F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app.py, generate_dash.py, ai_model.py, static/js/player.js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983D94-B502-4676-BBB6-06A059EB7D07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3748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AF71A7F-50A3-4D3D-A04E-C68B449221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682475A-3AC7-4043-BF1A-34A98DAE2621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FF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9A91C1B-117E-4D2B-A1BA-4C875024477B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6B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5F"/>
                </a:solidFill>
                <a:latin typeface="Aptos"/>
                <a:ea typeface="Aptos"/>
                <a:cs typeface="Aptos"/>
              </a:rPr>
              <a:t>DASH ENCODING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7AE6A2-10A7-4D0A-A0A0-DAA1974B7A1E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 real bitrate ladder lets the AI choose actual playable representations.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46AE25-FD02-45B4-BB06-7002724556F6}"/>
              </a:ext>
            </a:extLst>
          </p:cNvPr>
          <p:cNvSpPr>
            <a:spLocks noGrp="1"/>
          </p:cNvSpPr>
          <p:nvPr/>
        </p:nvSpPr>
        <p:spPr>
          <a:xfrm>
            <a:off x="552450" y="2038350"/>
            <a:ext cx="7239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generate_dash.py uses FFmpeg to create a manifest and segmented .m4s streams at multiple resolutions.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0FA721-3673-498E-8FF5-DC0CA6E39D34}"/>
              </a:ext>
            </a:extLst>
          </p:cNvPr>
          <p:cNvSpPr>
            <a:spLocks noGrp="1"/>
          </p:cNvSpPr>
          <p:nvPr/>
        </p:nvSpPr>
        <p:spPr>
          <a:xfrm>
            <a:off x="1143000" y="4657725"/>
            <a:ext cx="1476375" cy="676275"/>
          </a:xfrm>
          <a:prstGeom prst="rect">
            <a:avLst/>
          </a:prstGeom>
          <a:solidFill>
            <a:srgbClr val="FF6B5F"/>
          </a:solidFill>
          <a:ln w="9525">
            <a:solidFill>
              <a:srgbClr val="08111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6CFEB1-C1DF-4B0B-B63B-FAD6EAC385C1}"/>
              </a:ext>
            </a:extLst>
          </p:cNvPr>
          <p:cNvSpPr>
            <a:spLocks noGrp="1"/>
          </p:cNvSpPr>
          <p:nvPr/>
        </p:nvSpPr>
        <p:spPr>
          <a:xfrm>
            <a:off x="1143000" y="5543550"/>
            <a:ext cx="1476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240p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131FC9-EE39-466B-A23C-D78B78051004}"/>
              </a:ext>
            </a:extLst>
          </p:cNvPr>
          <p:cNvSpPr>
            <a:spLocks noGrp="1"/>
          </p:cNvSpPr>
          <p:nvPr/>
        </p:nvSpPr>
        <p:spPr>
          <a:xfrm>
            <a:off x="1143000" y="5829300"/>
            <a:ext cx="14763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rPr>
              <a:t>400 kbps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5ACE3C-EA3C-49F3-B163-CD14BFA3A197}"/>
              </a:ext>
            </a:extLst>
          </p:cNvPr>
          <p:cNvSpPr>
            <a:spLocks noGrp="1"/>
          </p:cNvSpPr>
          <p:nvPr/>
        </p:nvSpPr>
        <p:spPr>
          <a:xfrm>
            <a:off x="3381375" y="4181475"/>
            <a:ext cx="1476375" cy="1152525"/>
          </a:xfrm>
          <a:prstGeom prst="rect">
            <a:avLst/>
          </a:prstGeom>
          <a:solidFill>
            <a:srgbClr val="FFD166"/>
          </a:solidFill>
          <a:ln w="9525">
            <a:solidFill>
              <a:srgbClr val="08111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801548-3EF5-42D7-91A1-868246B08CDB}"/>
              </a:ext>
            </a:extLst>
          </p:cNvPr>
          <p:cNvSpPr>
            <a:spLocks noGrp="1"/>
          </p:cNvSpPr>
          <p:nvPr/>
        </p:nvSpPr>
        <p:spPr>
          <a:xfrm>
            <a:off x="3381375" y="5543550"/>
            <a:ext cx="1476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360p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FA5897-C315-4B32-A392-34385C8CA599}"/>
              </a:ext>
            </a:extLst>
          </p:cNvPr>
          <p:cNvSpPr>
            <a:spLocks noGrp="1"/>
          </p:cNvSpPr>
          <p:nvPr/>
        </p:nvSpPr>
        <p:spPr>
          <a:xfrm>
            <a:off x="3381375" y="5829300"/>
            <a:ext cx="14763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rPr>
              <a:t>1000 kbps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5F70B3-5838-4414-AA74-06445ACF4349}"/>
              </a:ext>
            </a:extLst>
          </p:cNvPr>
          <p:cNvSpPr>
            <a:spLocks noGrp="1"/>
          </p:cNvSpPr>
          <p:nvPr/>
        </p:nvSpPr>
        <p:spPr>
          <a:xfrm>
            <a:off x="5619750" y="3514725"/>
            <a:ext cx="1476375" cy="1819275"/>
          </a:xfrm>
          <a:prstGeom prst="rect">
            <a:avLst/>
          </a:prstGeom>
          <a:solidFill>
            <a:srgbClr val="36D1DC"/>
          </a:solidFill>
          <a:ln w="9525">
            <a:solidFill>
              <a:srgbClr val="08111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D0BD72-E35B-4741-94C7-2B10A380CA60}"/>
              </a:ext>
            </a:extLst>
          </p:cNvPr>
          <p:cNvSpPr>
            <a:spLocks noGrp="1"/>
          </p:cNvSpPr>
          <p:nvPr/>
        </p:nvSpPr>
        <p:spPr>
          <a:xfrm>
            <a:off x="5619750" y="5543550"/>
            <a:ext cx="1476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720p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1066D4-73CD-4ED5-A31C-DDA351CAAB1B}"/>
              </a:ext>
            </a:extLst>
          </p:cNvPr>
          <p:cNvSpPr>
            <a:spLocks noGrp="1"/>
          </p:cNvSpPr>
          <p:nvPr/>
        </p:nvSpPr>
        <p:spPr>
          <a:xfrm>
            <a:off x="5619750" y="5829300"/>
            <a:ext cx="14763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rPr>
              <a:t>2500 kbps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C3FC81-3FB8-4E77-AD1E-FF578EF4E40A}"/>
              </a:ext>
            </a:extLst>
          </p:cNvPr>
          <p:cNvSpPr>
            <a:spLocks noGrp="1"/>
          </p:cNvSpPr>
          <p:nvPr/>
        </p:nvSpPr>
        <p:spPr>
          <a:xfrm>
            <a:off x="7858125" y="2619375"/>
            <a:ext cx="1476375" cy="2714625"/>
          </a:xfrm>
          <a:prstGeom prst="rect">
            <a:avLst/>
          </a:prstGeom>
          <a:solidFill>
            <a:srgbClr val="B7F16A"/>
          </a:solidFill>
          <a:ln w="9525">
            <a:solidFill>
              <a:srgbClr val="08111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7370BA-0245-4892-B65A-603F0DFF70AA}"/>
              </a:ext>
            </a:extLst>
          </p:cNvPr>
          <p:cNvSpPr>
            <a:spLocks noGrp="1"/>
          </p:cNvSpPr>
          <p:nvPr/>
        </p:nvSpPr>
        <p:spPr>
          <a:xfrm>
            <a:off x="7858125" y="5543550"/>
            <a:ext cx="1476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1080p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93DE5A-8512-446E-9281-AA8F2C491303}"/>
              </a:ext>
            </a:extLst>
          </p:cNvPr>
          <p:cNvSpPr>
            <a:spLocks noGrp="1"/>
          </p:cNvSpPr>
          <p:nvPr/>
        </p:nvSpPr>
        <p:spPr>
          <a:xfrm>
            <a:off x="7858125" y="5829300"/>
            <a:ext cx="14763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rPr>
              <a:t>6000 kbps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F55B52-563B-415F-B5CE-0A5C68B98029}"/>
              </a:ext>
            </a:extLst>
          </p:cNvPr>
          <p:cNvSpPr>
            <a:spLocks noGrp="1"/>
          </p:cNvSpPr>
          <p:nvPr/>
        </p:nvSpPr>
        <p:spPr>
          <a:xfrm>
            <a:off x="9810750" y="2914650"/>
            <a:ext cx="1619250" cy="876300"/>
          </a:xfrm>
          <a:prstGeom prst="rect">
            <a:avLst/>
          </a:prstGeom>
          <a:solidFill>
            <a:srgbClr val="F6F2EA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C13A99-6DA2-4723-AF34-33719C774A41}"/>
              </a:ext>
            </a:extLst>
          </p:cNvPr>
          <p:cNvSpPr>
            <a:spLocks noGrp="1"/>
          </p:cNvSpPr>
          <p:nvPr/>
        </p:nvSpPr>
        <p:spPr>
          <a:xfrm>
            <a:off x="9982200" y="300990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4 sec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57AD8B-E5FF-43B0-BCCE-3F126686A86D}"/>
              </a:ext>
            </a:extLst>
          </p:cNvPr>
          <p:cNvSpPr>
            <a:spLocks noGrp="1"/>
          </p:cNvSpPr>
          <p:nvPr/>
        </p:nvSpPr>
        <p:spPr>
          <a:xfrm>
            <a:off x="9982200" y="3400425"/>
            <a:ext cx="1276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segment duration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A626B5-E37A-46C3-BCB4-6BFE0C035D16}"/>
              </a:ext>
            </a:extLst>
          </p:cNvPr>
          <p:cNvSpPr>
            <a:spLocks noGrp="1"/>
          </p:cNvSpPr>
          <p:nvPr/>
        </p:nvSpPr>
        <p:spPr>
          <a:xfrm>
            <a:off x="9810750" y="4038600"/>
            <a:ext cx="1619250" cy="876300"/>
          </a:xfrm>
          <a:prstGeom prst="rect">
            <a:avLst/>
          </a:prstGeom>
          <a:solidFill>
            <a:srgbClr val="F6F2EA"/>
          </a:solidFill>
          <a:ln w="9525">
            <a:solidFill>
              <a:srgbClr val="FF6B5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FF8795-3835-409B-9A6D-200BF2634896}"/>
              </a:ext>
            </a:extLst>
          </p:cNvPr>
          <p:cNvSpPr>
            <a:spLocks noGrp="1"/>
          </p:cNvSpPr>
          <p:nvPr/>
        </p:nvSpPr>
        <p:spPr>
          <a:xfrm>
            <a:off x="9982200" y="413385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MPD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EF6AFF-C05A-4319-B626-C61593E88B3F}"/>
              </a:ext>
            </a:extLst>
          </p:cNvPr>
          <p:cNvSpPr>
            <a:spLocks noGrp="1"/>
          </p:cNvSpPr>
          <p:nvPr/>
        </p:nvSpPr>
        <p:spPr>
          <a:xfrm>
            <a:off x="9982200" y="4524375"/>
            <a:ext cx="1276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manifest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5B5139-F36C-49E0-9E2B-1B603055FB44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generate_dash.py encoding ladder and media/dash outputs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F5FF66-0110-4D35-AE80-24B26FE91981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60636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11FE45CB-3F56-4771-913B-9A53B2EA94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B1207E3-248B-4BD8-BD20-48BC1612F009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D7F5C948-6E4B-4E17-A826-571B68645440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B7F1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F16A"/>
                </a:solidFill>
                <a:latin typeface="Aptos"/>
                <a:ea typeface="Aptos"/>
                <a:cs typeface="Aptos"/>
              </a:rPr>
              <a:t>AI BITRATE PREDICTION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D25638-5E66-4835-9B8C-562A54F3F085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The model translates seven network features into one safe quality level.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FD9002-7B2D-4FFF-BCFC-6C68085B1524}"/>
              </a:ext>
            </a:extLst>
          </p:cNvPr>
          <p:cNvSpPr>
            <a:spLocks noGrp="1"/>
          </p:cNvSpPr>
          <p:nvPr/>
        </p:nvSpPr>
        <p:spPr>
          <a:xfrm>
            <a:off x="704850" y="2362200"/>
            <a:ext cx="1771650" cy="36195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69E578-C47F-4565-A559-590575C6B6FE}"/>
              </a:ext>
            </a:extLst>
          </p:cNvPr>
          <p:cNvSpPr>
            <a:spLocks noGrp="1"/>
          </p:cNvSpPr>
          <p:nvPr/>
        </p:nvSpPr>
        <p:spPr>
          <a:xfrm>
            <a:off x="838200" y="242887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throughput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837B27-94AA-478A-BD69-43E9BDAA1058}"/>
              </a:ext>
            </a:extLst>
          </p:cNvPr>
          <p:cNvSpPr>
            <a:spLocks noGrp="1"/>
          </p:cNvSpPr>
          <p:nvPr/>
        </p:nvSpPr>
        <p:spPr>
          <a:xfrm>
            <a:off x="2800350" y="2362200"/>
            <a:ext cx="1771650" cy="36195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E977D2-4A13-49FB-9D84-D764D2E8EB8C}"/>
              </a:ext>
            </a:extLst>
          </p:cNvPr>
          <p:cNvSpPr>
            <a:spLocks noGrp="1"/>
          </p:cNvSpPr>
          <p:nvPr/>
        </p:nvSpPr>
        <p:spPr>
          <a:xfrm>
            <a:off x="2933700" y="242887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previous throughput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411D9B-5D03-4FA0-9508-44F917F838D4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1771650" cy="36195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EB2DAF-8464-4761-B53F-0E9EB90EB64C}"/>
              </a:ext>
            </a:extLst>
          </p:cNvPr>
          <p:cNvSpPr>
            <a:spLocks noGrp="1"/>
          </p:cNvSpPr>
          <p:nvPr/>
        </p:nvSpPr>
        <p:spPr>
          <a:xfrm>
            <a:off x="838200" y="301942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buffer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9A188D-771B-4AB8-A9FB-E2D3D5FB6C2E}"/>
              </a:ext>
            </a:extLst>
          </p:cNvPr>
          <p:cNvSpPr>
            <a:spLocks noGrp="1"/>
          </p:cNvSpPr>
          <p:nvPr/>
        </p:nvSpPr>
        <p:spPr>
          <a:xfrm>
            <a:off x="2800350" y="2952750"/>
            <a:ext cx="1771650" cy="36195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2F086A-6E7C-4649-8687-49ABEC4C8E3B}"/>
              </a:ext>
            </a:extLst>
          </p:cNvPr>
          <p:cNvSpPr>
            <a:spLocks noGrp="1"/>
          </p:cNvSpPr>
          <p:nvPr/>
        </p:nvSpPr>
        <p:spPr>
          <a:xfrm>
            <a:off x="2933700" y="301942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latency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738726-FEF9-4D54-966A-EB6E37117C17}"/>
              </a:ext>
            </a:extLst>
          </p:cNvPr>
          <p:cNvSpPr>
            <a:spLocks noGrp="1"/>
          </p:cNvSpPr>
          <p:nvPr/>
        </p:nvSpPr>
        <p:spPr>
          <a:xfrm>
            <a:off x="704850" y="3543300"/>
            <a:ext cx="1771650" cy="36195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8EEA12-3EFE-4F02-998A-3806CB8B8F2A}"/>
              </a:ext>
            </a:extLst>
          </p:cNvPr>
          <p:cNvSpPr>
            <a:spLocks noGrp="1"/>
          </p:cNvSpPr>
          <p:nvPr/>
        </p:nvSpPr>
        <p:spPr>
          <a:xfrm>
            <a:off x="838200" y="360997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packet loss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A627DE-6284-4205-A6B3-C1B93F1D31FB}"/>
              </a:ext>
            </a:extLst>
          </p:cNvPr>
          <p:cNvSpPr>
            <a:spLocks noGrp="1"/>
          </p:cNvSpPr>
          <p:nvPr/>
        </p:nvSpPr>
        <p:spPr>
          <a:xfrm>
            <a:off x="2800350" y="3543300"/>
            <a:ext cx="1771650" cy="36195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9EEB2E-4531-4F26-9C5C-29C617E6192B}"/>
              </a:ext>
            </a:extLst>
          </p:cNvPr>
          <p:cNvSpPr>
            <a:spLocks noGrp="1"/>
          </p:cNvSpPr>
          <p:nvPr/>
        </p:nvSpPr>
        <p:spPr>
          <a:xfrm>
            <a:off x="2933700" y="360997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jitter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81C12E-B971-4BF1-898F-0A6AAD0595B0}"/>
              </a:ext>
            </a:extLst>
          </p:cNvPr>
          <p:cNvSpPr>
            <a:spLocks noGrp="1"/>
          </p:cNvSpPr>
          <p:nvPr/>
        </p:nvSpPr>
        <p:spPr>
          <a:xfrm>
            <a:off x="704850" y="4133850"/>
            <a:ext cx="1771650" cy="36195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3CD70E-50F9-428C-89A4-755D7827A4CB}"/>
              </a:ext>
            </a:extLst>
          </p:cNvPr>
          <p:cNvSpPr>
            <a:spLocks noGrp="1"/>
          </p:cNvSpPr>
          <p:nvPr/>
        </p:nvSpPr>
        <p:spPr>
          <a:xfrm>
            <a:off x="838200" y="420052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current quality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9FA47F-D1F9-4A54-AD8F-95A57B3D9923}"/>
              </a:ext>
            </a:extLst>
          </p:cNvPr>
          <p:cNvSpPr>
            <a:spLocks noGrp="1"/>
          </p:cNvSpPr>
          <p:nvPr/>
        </p:nvSpPr>
        <p:spPr>
          <a:xfrm>
            <a:off x="4953000" y="2724150"/>
            <a:ext cx="2381250" cy="1390650"/>
          </a:xfrm>
          <a:prstGeom prst="rect">
            <a:avLst/>
          </a:prstGeom>
          <a:solidFill>
            <a:srgbClr val="12263A"/>
          </a:solidFill>
          <a:ln w="19050">
            <a:solidFill>
              <a:srgbClr val="B7F16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CDCB54-3C70-49C0-8CC6-6E0BA360190F}"/>
              </a:ext>
            </a:extLst>
          </p:cNvPr>
          <p:cNvSpPr>
            <a:spLocks noGrp="1"/>
          </p:cNvSpPr>
          <p:nvPr/>
        </p:nvSpPr>
        <p:spPr>
          <a:xfrm>
            <a:off x="5219700" y="3028950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rPr>
              <a:t>Random Forest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084815-150A-417B-BB1A-F840CC1C92FA}"/>
              </a:ext>
            </a:extLst>
          </p:cNvPr>
          <p:cNvSpPr>
            <a:spLocks noGrp="1"/>
          </p:cNvSpPr>
          <p:nvPr/>
        </p:nvSpPr>
        <p:spPr>
          <a:xfrm>
            <a:off x="5257800" y="3486150"/>
            <a:ext cx="1771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180 trees, max depth 8, balanced classes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C0FC2AB-7C6D-4FA7-84FC-A1E1BAAAB91B}"/>
              </a:ext>
            </a:extLst>
          </p:cNvPr>
          <p:cNvSpPr>
            <a:spLocks noGrp="1"/>
          </p:cNvSpPr>
          <p:nvPr/>
        </p:nvSpPr>
        <p:spPr>
          <a:xfrm>
            <a:off x="4457700" y="3429000"/>
            <a:ext cx="45720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8EA3B8"/>
            </a:solidFill>
            <a:prstDash val="solid"/>
          </a:ln>
        </p:spPr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7246017F-3500-44B2-920C-F52867972925}"/>
              </a:ext>
            </a:extLst>
          </p:cNvPr>
          <p:cNvSpPr>
            <a:spLocks noGrp="1"/>
          </p:cNvSpPr>
          <p:nvPr/>
        </p:nvSpPr>
        <p:spPr>
          <a:xfrm>
            <a:off x="4857750" y="3381375"/>
            <a:ext cx="95250" cy="95250"/>
          </a:xfrm>
          <a:prstGeom prst="triangle">
            <a:avLst/>
          </a:prstGeom>
          <a:solidFill>
            <a:srgbClr val="8E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BF600A56-2874-4854-90C8-3176BD20B962}"/>
              </a:ext>
            </a:extLst>
          </p:cNvPr>
          <p:cNvSpPr>
            <a:spLocks noGrp="1"/>
          </p:cNvSpPr>
          <p:nvPr/>
        </p:nvSpPr>
        <p:spPr>
          <a:xfrm>
            <a:off x="7372350" y="3429000"/>
            <a:ext cx="45720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8EA3B8"/>
            </a:solidFill>
            <a:prstDash val="solid"/>
          </a:ln>
        </p:spPr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274B3573-D68B-4BB7-A13A-4E074D710F1E}"/>
              </a:ext>
            </a:extLst>
          </p:cNvPr>
          <p:cNvSpPr>
            <a:spLocks noGrp="1"/>
          </p:cNvSpPr>
          <p:nvPr/>
        </p:nvSpPr>
        <p:spPr>
          <a:xfrm>
            <a:off x="7772400" y="3381375"/>
            <a:ext cx="95250" cy="95250"/>
          </a:xfrm>
          <a:prstGeom prst="triangle">
            <a:avLst/>
          </a:prstGeom>
          <a:solidFill>
            <a:srgbClr val="8E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92D171-1E7D-427E-8856-311B1364CEC7}"/>
              </a:ext>
            </a:extLst>
          </p:cNvPr>
          <p:cNvSpPr>
            <a:spLocks noGrp="1"/>
          </p:cNvSpPr>
          <p:nvPr/>
        </p:nvSpPr>
        <p:spPr>
          <a:xfrm>
            <a:off x="8077200" y="2247900"/>
            <a:ext cx="2000250" cy="45720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2C3965-A690-429B-8197-8CDB53F94241}"/>
              </a:ext>
            </a:extLst>
          </p:cNvPr>
          <p:cNvSpPr>
            <a:spLocks noGrp="1"/>
          </p:cNvSpPr>
          <p:nvPr/>
        </p:nvSpPr>
        <p:spPr>
          <a:xfrm>
            <a:off x="8286750" y="2333625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240p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2EBC9F-0484-4A53-B006-E02398DC5A05}"/>
              </a:ext>
            </a:extLst>
          </p:cNvPr>
          <p:cNvSpPr>
            <a:spLocks noGrp="1"/>
          </p:cNvSpPr>
          <p:nvPr/>
        </p:nvSpPr>
        <p:spPr>
          <a:xfrm>
            <a:off x="9163050" y="236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400k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E31F33-C8E6-4C5E-AA74-FEFB7FDC2DD1}"/>
              </a:ext>
            </a:extLst>
          </p:cNvPr>
          <p:cNvSpPr>
            <a:spLocks noGrp="1"/>
          </p:cNvSpPr>
          <p:nvPr/>
        </p:nvSpPr>
        <p:spPr>
          <a:xfrm>
            <a:off x="8077200" y="2933700"/>
            <a:ext cx="2000250" cy="457200"/>
          </a:xfrm>
          <a:prstGeom prst="rect">
            <a:avLst/>
          </a:prstGeom>
          <a:solidFill>
            <a:srgbClr val="36D1DC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CA5680-0FA2-4007-B7C6-7DA45EFB2846}"/>
              </a:ext>
            </a:extLst>
          </p:cNvPr>
          <p:cNvSpPr>
            <a:spLocks noGrp="1"/>
          </p:cNvSpPr>
          <p:nvPr/>
        </p:nvSpPr>
        <p:spPr>
          <a:xfrm>
            <a:off x="8286750" y="3019425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360p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9133C3-DEB6-49EA-A6DD-DE1AA35A0AB8}"/>
              </a:ext>
            </a:extLst>
          </p:cNvPr>
          <p:cNvSpPr>
            <a:spLocks noGrp="1"/>
          </p:cNvSpPr>
          <p:nvPr/>
        </p:nvSpPr>
        <p:spPr>
          <a:xfrm>
            <a:off x="9163050" y="30480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1000k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F56A8E-01C2-4C2C-B0F0-892946FF5B91}"/>
              </a:ext>
            </a:extLst>
          </p:cNvPr>
          <p:cNvSpPr>
            <a:spLocks noGrp="1"/>
          </p:cNvSpPr>
          <p:nvPr/>
        </p:nvSpPr>
        <p:spPr>
          <a:xfrm>
            <a:off x="8077200" y="3619500"/>
            <a:ext cx="2000250" cy="45720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8FADD16-1513-4A36-878A-F42440495B25}"/>
              </a:ext>
            </a:extLst>
          </p:cNvPr>
          <p:cNvSpPr>
            <a:spLocks noGrp="1"/>
          </p:cNvSpPr>
          <p:nvPr/>
        </p:nvSpPr>
        <p:spPr>
          <a:xfrm>
            <a:off x="8286750" y="3705225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720p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EF586AE-BF26-4362-B3A7-679EB57315B3}"/>
              </a:ext>
            </a:extLst>
          </p:cNvPr>
          <p:cNvSpPr>
            <a:spLocks noGrp="1"/>
          </p:cNvSpPr>
          <p:nvPr/>
        </p:nvSpPr>
        <p:spPr>
          <a:xfrm>
            <a:off x="9163050" y="37338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2500k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980F333-1111-4644-8606-E4282680793F}"/>
              </a:ext>
            </a:extLst>
          </p:cNvPr>
          <p:cNvSpPr>
            <a:spLocks noGrp="1"/>
          </p:cNvSpPr>
          <p:nvPr/>
        </p:nvSpPr>
        <p:spPr>
          <a:xfrm>
            <a:off x="8077200" y="4305300"/>
            <a:ext cx="2000250" cy="45720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7E5E7B-C463-4467-B4A1-259EC57A18F4}"/>
              </a:ext>
            </a:extLst>
          </p:cNvPr>
          <p:cNvSpPr>
            <a:spLocks noGrp="1"/>
          </p:cNvSpPr>
          <p:nvPr/>
        </p:nvSpPr>
        <p:spPr>
          <a:xfrm>
            <a:off x="8286750" y="4391025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1080p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1D7B30-C560-4AAB-864D-03E96B4102B4}"/>
              </a:ext>
            </a:extLst>
          </p:cNvPr>
          <p:cNvSpPr>
            <a:spLocks noGrp="1"/>
          </p:cNvSpPr>
          <p:nvPr/>
        </p:nvSpPr>
        <p:spPr>
          <a:xfrm>
            <a:off x="9163050" y="44196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6000k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C545E5-347A-4AF9-9C64-005DA9704367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885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Prediction returns quality label, bitrate, confidence, accuracy, and a human-readable reason such as low buffer or packet loss.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C8096E9-C5C1-4E2D-98C1-75168321B7DD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ai_model.py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F96508-5737-4FA9-A5EF-6D291541B682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2942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9648377D-F05D-4594-98A4-7EC22D13E9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2FF5725-0581-41B8-81E3-7497EBB38D97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FFD1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BB395A4-224A-45B9-9E24-0339919921C8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RUNTIME CONTROL LOOP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81C6D0-7DA0-4D3B-8238-C0C581A877DB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Every two seconds, playback evidence becomes a new quality decision.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5B154E-AD2F-40EA-9171-922E70B1EA55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2095500" cy="118110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40274C-C241-4C92-977A-511DC49BA2D2}"/>
              </a:ext>
            </a:extLst>
          </p:cNvPr>
          <p:cNvSpPr>
            <a:spLocks noGrp="1"/>
          </p:cNvSpPr>
          <p:nvPr/>
        </p:nvSpPr>
        <p:spPr>
          <a:xfrm>
            <a:off x="876300" y="3238500"/>
            <a:ext cx="361950" cy="361950"/>
          </a:xfrm>
          <a:prstGeom prst="rect">
            <a:avLst/>
          </a:prstGeom>
          <a:solidFill>
            <a:srgbClr val="36D1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D4647D-8902-43AC-BFD1-3F58CBCE3018}"/>
              </a:ext>
            </a:extLst>
          </p:cNvPr>
          <p:cNvSpPr>
            <a:spLocks noGrp="1"/>
          </p:cNvSpPr>
          <p:nvPr/>
        </p:nvSpPr>
        <p:spPr>
          <a:xfrm>
            <a:off x="876300" y="3305175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3115B0-9CDE-402E-B8BE-C5F00DFB85A9}"/>
              </a:ext>
            </a:extLst>
          </p:cNvPr>
          <p:cNvSpPr>
            <a:spLocks noGrp="1"/>
          </p:cNvSpPr>
          <p:nvPr/>
        </p:nvSpPr>
        <p:spPr>
          <a:xfrm>
            <a:off x="1390650" y="32385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Measure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FDACA-29EA-4A1A-87CD-1D9A0C10CC58}"/>
              </a:ext>
            </a:extLst>
          </p:cNvPr>
          <p:cNvSpPr>
            <a:spLocks noGrp="1"/>
          </p:cNvSpPr>
          <p:nvPr/>
        </p:nvSpPr>
        <p:spPr>
          <a:xfrm>
            <a:off x="1390650" y="361950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throughput, latency, buffer, loss, jitter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55C10C1-C262-4C77-BC22-4BA69B110D28}"/>
              </a:ext>
            </a:extLst>
          </p:cNvPr>
          <p:cNvSpPr>
            <a:spLocks noGrp="1"/>
          </p:cNvSpPr>
          <p:nvPr/>
        </p:nvSpPr>
        <p:spPr>
          <a:xfrm>
            <a:off x="2819400" y="3619500"/>
            <a:ext cx="5524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C445209-8FE1-4814-8821-145BAFB01DDB}"/>
              </a:ext>
            </a:extLst>
          </p:cNvPr>
          <p:cNvSpPr>
            <a:spLocks noGrp="1"/>
          </p:cNvSpPr>
          <p:nvPr/>
        </p:nvSpPr>
        <p:spPr>
          <a:xfrm>
            <a:off x="3314700" y="3571875"/>
            <a:ext cx="95250" cy="95250"/>
          </a:xfrm>
          <a:prstGeom prst="triangle">
            <a:avLst/>
          </a:prstGeom>
          <a:solidFill>
            <a:srgbClr val="FFD1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9469A0-51A1-4123-AEB3-49572233B423}"/>
              </a:ext>
            </a:extLst>
          </p:cNvPr>
          <p:cNvSpPr>
            <a:spLocks noGrp="1"/>
          </p:cNvSpPr>
          <p:nvPr/>
        </p:nvSpPr>
        <p:spPr>
          <a:xfrm>
            <a:off x="3467100" y="3028950"/>
            <a:ext cx="2095500" cy="1181100"/>
          </a:xfrm>
          <a:prstGeom prst="rect">
            <a:avLst/>
          </a:prstGeom>
          <a:solidFill>
            <a:srgbClr val="102236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450CC6-A253-4887-8997-3D62FB44FC95}"/>
              </a:ext>
            </a:extLst>
          </p:cNvPr>
          <p:cNvSpPr>
            <a:spLocks noGrp="1"/>
          </p:cNvSpPr>
          <p:nvPr/>
        </p:nvSpPr>
        <p:spPr>
          <a:xfrm>
            <a:off x="3657600" y="3238500"/>
            <a:ext cx="361950" cy="361950"/>
          </a:xfrm>
          <a:prstGeom prst="rect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205685-8F1F-4B4D-B248-20A9D73D90B4}"/>
              </a:ext>
            </a:extLst>
          </p:cNvPr>
          <p:cNvSpPr>
            <a:spLocks noGrp="1"/>
          </p:cNvSpPr>
          <p:nvPr/>
        </p:nvSpPr>
        <p:spPr>
          <a:xfrm>
            <a:off x="3657600" y="3305175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087BF-022F-44D2-BB56-FF26D4AB36ED}"/>
              </a:ext>
            </a:extLst>
          </p:cNvPr>
          <p:cNvSpPr>
            <a:spLocks noGrp="1"/>
          </p:cNvSpPr>
          <p:nvPr/>
        </p:nvSpPr>
        <p:spPr>
          <a:xfrm>
            <a:off x="4171950" y="32385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Predict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46F014-E953-4B65-A9D4-5B9B69F61E63}"/>
              </a:ext>
            </a:extLst>
          </p:cNvPr>
          <p:cNvSpPr>
            <a:spLocks noGrp="1"/>
          </p:cNvSpPr>
          <p:nvPr/>
        </p:nvSpPr>
        <p:spPr>
          <a:xfrm>
            <a:off x="4171950" y="361950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POST /api/predict to Flask model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AFC7D380-70D8-4661-AE73-C87737E8E508}"/>
              </a:ext>
            </a:extLst>
          </p:cNvPr>
          <p:cNvSpPr>
            <a:spLocks noGrp="1"/>
          </p:cNvSpPr>
          <p:nvPr/>
        </p:nvSpPr>
        <p:spPr>
          <a:xfrm>
            <a:off x="5600700" y="3619500"/>
            <a:ext cx="5524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5A341BDF-AF67-4764-B0F9-168144B6CBFD}"/>
              </a:ext>
            </a:extLst>
          </p:cNvPr>
          <p:cNvSpPr>
            <a:spLocks noGrp="1"/>
          </p:cNvSpPr>
          <p:nvPr/>
        </p:nvSpPr>
        <p:spPr>
          <a:xfrm>
            <a:off x="6096000" y="3571875"/>
            <a:ext cx="95250" cy="95250"/>
          </a:xfrm>
          <a:prstGeom prst="triangle">
            <a:avLst/>
          </a:prstGeom>
          <a:solidFill>
            <a:srgbClr val="FFD1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5CEE48-064A-4469-83CC-6577683C5586}"/>
              </a:ext>
            </a:extLst>
          </p:cNvPr>
          <p:cNvSpPr>
            <a:spLocks noGrp="1"/>
          </p:cNvSpPr>
          <p:nvPr/>
        </p:nvSpPr>
        <p:spPr>
          <a:xfrm>
            <a:off x="6248400" y="3028950"/>
            <a:ext cx="2095500" cy="118110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D745BA-9B12-4A38-A62B-9CFEEE5DAA42}"/>
              </a:ext>
            </a:extLst>
          </p:cNvPr>
          <p:cNvSpPr>
            <a:spLocks noGrp="1"/>
          </p:cNvSpPr>
          <p:nvPr/>
        </p:nvSpPr>
        <p:spPr>
          <a:xfrm>
            <a:off x="6438900" y="3238500"/>
            <a:ext cx="361950" cy="361950"/>
          </a:xfrm>
          <a:prstGeom prst="rect">
            <a:avLst/>
          </a:prstGeom>
          <a:solidFill>
            <a:srgbClr val="36D1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266B0C-4C36-4FD0-AF06-967F8F157D73}"/>
              </a:ext>
            </a:extLst>
          </p:cNvPr>
          <p:cNvSpPr>
            <a:spLocks noGrp="1"/>
          </p:cNvSpPr>
          <p:nvPr/>
        </p:nvSpPr>
        <p:spPr>
          <a:xfrm>
            <a:off x="6438900" y="3305175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7D5E9D-CAE6-483C-B572-9206E60ACB5E}"/>
              </a:ext>
            </a:extLst>
          </p:cNvPr>
          <p:cNvSpPr>
            <a:spLocks noGrp="1"/>
          </p:cNvSpPr>
          <p:nvPr/>
        </p:nvSpPr>
        <p:spPr>
          <a:xfrm>
            <a:off x="6953250" y="32385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Apply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9B139A-A26F-4C92-ACF6-A606FA66FE21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dash.js quality set to selected index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BD459069-6A2A-4B4F-8F12-F7C660F14E50}"/>
              </a:ext>
            </a:extLst>
          </p:cNvPr>
          <p:cNvSpPr>
            <a:spLocks noGrp="1"/>
          </p:cNvSpPr>
          <p:nvPr/>
        </p:nvSpPr>
        <p:spPr>
          <a:xfrm>
            <a:off x="8382000" y="3619500"/>
            <a:ext cx="5524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7DE1D899-53ED-4CE2-BCCF-B6695061FAB5}"/>
              </a:ext>
            </a:extLst>
          </p:cNvPr>
          <p:cNvSpPr>
            <a:spLocks noGrp="1"/>
          </p:cNvSpPr>
          <p:nvPr/>
        </p:nvSpPr>
        <p:spPr>
          <a:xfrm>
            <a:off x="8877300" y="3571875"/>
            <a:ext cx="95250" cy="95250"/>
          </a:xfrm>
          <a:prstGeom prst="triangle">
            <a:avLst/>
          </a:prstGeom>
          <a:solidFill>
            <a:srgbClr val="FFD1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036FF1-2023-4EBB-976B-7C6F46FF3734}"/>
              </a:ext>
            </a:extLst>
          </p:cNvPr>
          <p:cNvSpPr>
            <a:spLocks noGrp="1"/>
          </p:cNvSpPr>
          <p:nvPr/>
        </p:nvSpPr>
        <p:spPr>
          <a:xfrm>
            <a:off x="9029700" y="3028950"/>
            <a:ext cx="2095500" cy="118110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F10FCD-B78C-441F-9855-0E8CB9B0A6F4}"/>
              </a:ext>
            </a:extLst>
          </p:cNvPr>
          <p:cNvSpPr>
            <a:spLocks noGrp="1"/>
          </p:cNvSpPr>
          <p:nvPr/>
        </p:nvSpPr>
        <p:spPr>
          <a:xfrm>
            <a:off x="9220200" y="3238500"/>
            <a:ext cx="361950" cy="361950"/>
          </a:xfrm>
          <a:prstGeom prst="rect">
            <a:avLst/>
          </a:prstGeom>
          <a:solidFill>
            <a:srgbClr val="36D1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02C3FA-397A-4F70-B683-85901B497110}"/>
              </a:ext>
            </a:extLst>
          </p:cNvPr>
          <p:cNvSpPr>
            <a:spLocks noGrp="1"/>
          </p:cNvSpPr>
          <p:nvPr/>
        </p:nvSpPr>
        <p:spPr>
          <a:xfrm>
            <a:off x="9220200" y="3305175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D7B99A-8A04-430F-A1A7-CD06B80B9970}"/>
              </a:ext>
            </a:extLst>
          </p:cNvPr>
          <p:cNvSpPr>
            <a:spLocks noGrp="1"/>
          </p:cNvSpPr>
          <p:nvPr/>
        </p:nvSpPr>
        <p:spPr>
          <a:xfrm>
            <a:off x="9734550" y="32385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Log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6D2D03-1A7E-462D-925F-C03BAD374D8A}"/>
              </a:ext>
            </a:extLst>
          </p:cNvPr>
          <p:cNvSpPr>
            <a:spLocks noGrp="1"/>
          </p:cNvSpPr>
          <p:nvPr/>
        </p:nvSpPr>
        <p:spPr>
          <a:xfrm>
            <a:off x="9734550" y="361950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append metrics and reason to CSV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3B79C1-445B-435F-B925-C4658F865731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058400" cy="628650"/>
          </a:xfrm>
          <a:prstGeom prst="rect">
            <a:avLst/>
          </a:prstGeom>
          <a:solidFill>
            <a:srgbClr val="132A42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82584B-BC2F-412C-862E-279CD1F0841E}"/>
              </a:ext>
            </a:extLst>
          </p:cNvPr>
          <p:cNvSpPr>
            <a:spLocks noGrp="1"/>
          </p:cNvSpPr>
          <p:nvPr/>
        </p:nvSpPr>
        <p:spPr>
          <a:xfrm>
            <a:off x="952500" y="493395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2s loop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3635F2-FA26-4AF8-BCBF-A693203DF390}"/>
              </a:ext>
            </a:extLst>
          </p:cNvPr>
          <p:cNvSpPr>
            <a:spLocks noGrp="1"/>
          </p:cNvSpPr>
          <p:nvPr/>
        </p:nvSpPr>
        <p:spPr>
          <a:xfrm>
            <a:off x="2266950" y="4953000"/>
            <a:ext cx="800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AI enabled: dash.js auto ABR is disabled and the predicted level is applied. AI disabled: normal dash.js ABR is used for comparison.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CD2E43-3F01-4ED8-987E-C77118842926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static/js/player.js controlLoop()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D4533D-2C87-4B60-A309-9989FBDF8C0A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9970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618822A-D540-468D-BA52-62749B89FE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3A4D7A58-4AE8-4B2D-9B8B-21383465F7EB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36D1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D212F089-39C5-4248-B4D5-5BC7AA0E33E0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36D1D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6D1DC"/>
                </a:solidFill>
                <a:latin typeface="Aptos"/>
                <a:ea typeface="Aptos"/>
                <a:cs typeface="Aptos"/>
              </a:rPr>
              <a:t>DEMO DASHBOARD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CD1CCC-1429-4858-A37B-7C2F52CBB851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The browser UI makes adaptive streaming observable and testable.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194572-FF88-4C60-ADBE-64846FD03859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2857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82489B-B2D8-4069-B153-5B83866B3B23}"/>
              </a:ext>
            </a:extLst>
          </p:cNvPr>
          <p:cNvSpPr>
            <a:spLocks noGrp="1"/>
          </p:cNvSpPr>
          <p:nvPr/>
        </p:nvSpPr>
        <p:spPr>
          <a:xfrm>
            <a:off x="914400" y="25336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Video player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C0E27C-1B0F-407B-B0CB-F828501C16E8}"/>
              </a:ext>
            </a:extLst>
          </p:cNvPr>
          <p:cNvSpPr>
            <a:spLocks noGrp="1"/>
          </p:cNvSpPr>
          <p:nvPr/>
        </p:nvSpPr>
        <p:spPr>
          <a:xfrm>
            <a:off x="914400" y="287655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plays the generated DASH manifest with dash.js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FDE7B4-A258-4DF8-86D9-4097E56B5395}"/>
              </a:ext>
            </a:extLst>
          </p:cNvPr>
          <p:cNvSpPr>
            <a:spLocks noGrp="1"/>
          </p:cNvSpPr>
          <p:nvPr/>
        </p:nvSpPr>
        <p:spPr>
          <a:xfrm>
            <a:off x="4286250" y="2362200"/>
            <a:ext cx="2857500" cy="990600"/>
          </a:xfrm>
          <a:prstGeom prst="rect">
            <a:avLst/>
          </a:prstGeom>
          <a:solidFill>
            <a:srgbClr val="DDF8EA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FB9C8C-7524-4D6A-BE0B-CF9851B27FCE}"/>
              </a:ext>
            </a:extLst>
          </p:cNvPr>
          <p:cNvSpPr>
            <a:spLocks noGrp="1"/>
          </p:cNvSpPr>
          <p:nvPr/>
        </p:nvSpPr>
        <p:spPr>
          <a:xfrm>
            <a:off x="4457700" y="25336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AI toggle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E423F2-C3AC-4F72-90FB-44C559638C38}"/>
              </a:ext>
            </a:extLst>
          </p:cNvPr>
          <p:cNvSpPr>
            <a:spLocks noGrp="1"/>
          </p:cNvSpPr>
          <p:nvPr/>
        </p:nvSpPr>
        <p:spPr>
          <a:xfrm>
            <a:off x="4457700" y="287655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switches between ML control and normal dash.js ABR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47449C-849C-4D18-84A4-D45E679FD1C6}"/>
              </a:ext>
            </a:extLst>
          </p:cNvPr>
          <p:cNvSpPr>
            <a:spLocks noGrp="1"/>
          </p:cNvSpPr>
          <p:nvPr/>
        </p:nvSpPr>
        <p:spPr>
          <a:xfrm>
            <a:off x="7829550" y="2362200"/>
            <a:ext cx="2857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790146-DE55-4836-B18E-318111BDC93D}"/>
              </a:ext>
            </a:extLst>
          </p:cNvPr>
          <p:cNvSpPr>
            <a:spLocks noGrp="1"/>
          </p:cNvSpPr>
          <p:nvPr/>
        </p:nvSpPr>
        <p:spPr>
          <a:xfrm>
            <a:off x="8001000" y="25336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Network profiles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04C915-E97A-44A3-B6EA-48F1C7FFB194}"/>
              </a:ext>
            </a:extLst>
          </p:cNvPr>
          <p:cNvSpPr>
            <a:spLocks noGrp="1"/>
          </p:cNvSpPr>
          <p:nvPr/>
        </p:nvSpPr>
        <p:spPr>
          <a:xfrm>
            <a:off x="8001000" y="287655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stable, medium, poor, and lossy conditions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3CE73A-ECB5-459F-8E44-7E95DB9985D7}"/>
              </a:ext>
            </a:extLst>
          </p:cNvPr>
          <p:cNvSpPr>
            <a:spLocks noGrp="1"/>
          </p:cNvSpPr>
          <p:nvPr/>
        </p:nvSpPr>
        <p:spPr>
          <a:xfrm>
            <a:off x="742950" y="3714750"/>
            <a:ext cx="2857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2EEE09-0F07-45B6-BB14-99E3E49EE8F3}"/>
              </a:ext>
            </a:extLst>
          </p:cNvPr>
          <p:cNvSpPr>
            <a:spLocks noGrp="1"/>
          </p:cNvSpPr>
          <p:nvPr/>
        </p:nvSpPr>
        <p:spPr>
          <a:xfrm>
            <a:off x="914400" y="3886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Live charts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4100CB-EFC6-4506-BC76-E207B0AE4BF3}"/>
              </a:ext>
            </a:extLst>
          </p:cNvPr>
          <p:cNvSpPr>
            <a:spLocks noGrp="1"/>
          </p:cNvSpPr>
          <p:nvPr/>
        </p:nvSpPr>
        <p:spPr>
          <a:xfrm>
            <a:off x="914400" y="42291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throughput, bitrate, buffer, and latency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767BF1-A512-491B-ACD9-FC66D6F3AFC0}"/>
              </a:ext>
            </a:extLst>
          </p:cNvPr>
          <p:cNvSpPr>
            <a:spLocks noGrp="1"/>
          </p:cNvSpPr>
          <p:nvPr/>
        </p:nvSpPr>
        <p:spPr>
          <a:xfrm>
            <a:off x="4286250" y="3714750"/>
            <a:ext cx="2857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912966-CED3-42D2-94BD-51A56EA55A38}"/>
              </a:ext>
            </a:extLst>
          </p:cNvPr>
          <p:cNvSpPr>
            <a:spLocks noGrp="1"/>
          </p:cNvSpPr>
          <p:nvPr/>
        </p:nvSpPr>
        <p:spPr>
          <a:xfrm>
            <a:off x="4457700" y="3886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Decision reason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88FFC1-DAE9-4DBF-B218-BC227EF98263}"/>
              </a:ext>
            </a:extLst>
          </p:cNvPr>
          <p:cNvSpPr>
            <a:spLocks noGrp="1"/>
          </p:cNvSpPr>
          <p:nvPr/>
        </p:nvSpPr>
        <p:spPr>
          <a:xfrm>
            <a:off x="4457700" y="42291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shows stable network, low buffer, limited throughput, or packet loss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D458A5-A929-458F-8EDB-918C597B0EEA}"/>
              </a:ext>
            </a:extLst>
          </p:cNvPr>
          <p:cNvSpPr>
            <a:spLocks noGrp="1"/>
          </p:cNvSpPr>
          <p:nvPr/>
        </p:nvSpPr>
        <p:spPr>
          <a:xfrm>
            <a:off x="7829550" y="3714750"/>
            <a:ext cx="2857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1E9216-85EE-47D2-96D7-B67DC576A252}"/>
              </a:ext>
            </a:extLst>
          </p:cNvPr>
          <p:cNvSpPr>
            <a:spLocks noGrp="1"/>
          </p:cNvSpPr>
          <p:nvPr/>
        </p:nvSpPr>
        <p:spPr>
          <a:xfrm>
            <a:off x="8001000" y="3886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Session logging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BC605A-E6DC-439D-9D7A-83E477A6B961}"/>
              </a:ext>
            </a:extLst>
          </p:cNvPr>
          <p:cNvSpPr>
            <a:spLocks noGrp="1"/>
          </p:cNvSpPr>
          <p:nvPr/>
        </p:nvSpPr>
        <p:spPr>
          <a:xfrm>
            <a:off x="8001000" y="42291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saves every decision for later result graphs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E524BD-157C-4070-BB03-AD5A9E4B0763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647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This is a working project surface, not a static simulation.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14691A-935F-4F32-AD86-2C642EFE6951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templates/index.html and static/js/player.js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C8894F-DF92-4EE0-BC14-B5AF623A05BD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041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8158B6F-117C-4107-8332-50789E642A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8B9724F-AC58-4BBC-B9BA-A8E5A8E41572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421CC91E-A375-474E-AEF1-06823F7C7B84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B7F1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F16A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98FF12-B4C2-4D5F-86F2-98366BA48457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Logged sessions show adaptive decisions under constrained network conditions.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F91C2-E7A7-458D-B30F-D6905020C4AF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581150" cy="876300"/>
          </a:xfrm>
          <a:prstGeom prst="rect">
            <a:avLst/>
          </a:prstGeom>
          <a:solidFill>
            <a:srgbClr val="F6F2EA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C9BDF5-46B6-4594-BA98-704F189532F6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177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7670AF-6BCA-464C-B1E1-C153C15858AE}"/>
              </a:ext>
            </a:extLst>
          </p:cNvPr>
          <p:cNvSpPr>
            <a:spLocks noGrp="1"/>
          </p:cNvSpPr>
          <p:nvPr/>
        </p:nvSpPr>
        <p:spPr>
          <a:xfrm>
            <a:off x="723900" y="2371725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samples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FE1BE4-7658-49E4-98A3-EB90E38A96B8}"/>
              </a:ext>
            </a:extLst>
          </p:cNvPr>
          <p:cNvSpPr>
            <a:spLocks noGrp="1"/>
          </p:cNvSpPr>
          <p:nvPr/>
        </p:nvSpPr>
        <p:spPr>
          <a:xfrm>
            <a:off x="2286000" y="1885950"/>
            <a:ext cx="1581150" cy="876300"/>
          </a:xfrm>
          <a:prstGeom prst="rect">
            <a:avLst/>
          </a:prstGeom>
          <a:solidFill>
            <a:srgbClr val="F6F2EA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6687E3-5C73-491E-BE92-E168B4B85701}"/>
              </a:ext>
            </a:extLst>
          </p:cNvPr>
          <p:cNvSpPr>
            <a:spLocks noGrp="1"/>
          </p:cNvSpPr>
          <p:nvPr/>
        </p:nvSpPr>
        <p:spPr>
          <a:xfrm>
            <a:off x="2457450" y="19812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2.199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42D3F4-FF4C-4818-929B-36350DB9F5A0}"/>
              </a:ext>
            </a:extLst>
          </p:cNvPr>
          <p:cNvSpPr>
            <a:spLocks noGrp="1"/>
          </p:cNvSpPr>
          <p:nvPr/>
        </p:nvSpPr>
        <p:spPr>
          <a:xfrm>
            <a:off x="2457450" y="2371725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avg throughput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676C58-0336-4CAB-8F18-9BCE192FEC0C}"/>
              </a:ext>
            </a:extLst>
          </p:cNvPr>
          <p:cNvSpPr>
            <a:spLocks noGrp="1"/>
          </p:cNvSpPr>
          <p:nvPr/>
        </p:nvSpPr>
        <p:spPr>
          <a:xfrm>
            <a:off x="4019550" y="1885950"/>
            <a:ext cx="1581150" cy="876300"/>
          </a:xfrm>
          <a:prstGeom prst="rect">
            <a:avLst/>
          </a:prstGeom>
          <a:solidFill>
            <a:srgbClr val="F6F2EA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78C61E-D38B-4F66-9623-572A3155CA9D}"/>
              </a:ext>
            </a:extLst>
          </p:cNvPr>
          <p:cNvSpPr>
            <a:spLocks noGrp="1"/>
          </p:cNvSpPr>
          <p:nvPr/>
        </p:nvSpPr>
        <p:spPr>
          <a:xfrm>
            <a:off x="4191000" y="19812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rPr>
              <a:t>10.255s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567108-074F-4F01-A2B5-C48BA5111061}"/>
              </a:ext>
            </a:extLst>
          </p:cNvPr>
          <p:cNvSpPr>
            <a:spLocks noGrp="1"/>
          </p:cNvSpPr>
          <p:nvPr/>
        </p:nvSpPr>
        <p:spPr>
          <a:xfrm>
            <a:off x="4191000" y="2371725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avg buffer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E1DDCD-5665-4882-8407-92542415EC55}"/>
              </a:ext>
            </a:extLst>
          </p:cNvPr>
          <p:cNvSpPr>
            <a:spLocks noGrp="1"/>
          </p:cNvSpPr>
          <p:nvPr/>
        </p:nvSpPr>
        <p:spPr>
          <a:xfrm>
            <a:off x="5753100" y="1885950"/>
            <a:ext cx="1581150" cy="876300"/>
          </a:xfrm>
          <a:prstGeom prst="rect">
            <a:avLst/>
          </a:prstGeom>
          <a:solidFill>
            <a:srgbClr val="F6F2EA"/>
          </a:solidFill>
          <a:ln w="9525">
            <a:solidFill>
              <a:srgbClr val="FF6B5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B78522-325E-47C2-9312-278A01B80113}"/>
              </a:ext>
            </a:extLst>
          </p:cNvPr>
          <p:cNvSpPr>
            <a:spLocks noGrp="1"/>
          </p:cNvSpPr>
          <p:nvPr/>
        </p:nvSpPr>
        <p:spPr>
          <a:xfrm>
            <a:off x="5924550" y="19812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72.928ms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6CC94A-6D3E-4196-9EAC-26AF49D5F91B}"/>
              </a:ext>
            </a:extLst>
          </p:cNvPr>
          <p:cNvSpPr>
            <a:spLocks noGrp="1"/>
          </p:cNvSpPr>
          <p:nvPr/>
        </p:nvSpPr>
        <p:spPr>
          <a:xfrm>
            <a:off x="5924550" y="2371725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avg latency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3BFB14-8E78-462F-B636-2D9C74B15BA4}"/>
              </a:ext>
            </a:extLst>
          </p:cNvPr>
          <p:cNvSpPr>
            <a:spLocks noGrp="1"/>
          </p:cNvSpPr>
          <p:nvPr/>
        </p:nvSpPr>
        <p:spPr>
          <a:xfrm>
            <a:off x="7486650" y="1885950"/>
            <a:ext cx="1581150" cy="876300"/>
          </a:xfrm>
          <a:prstGeom prst="rect">
            <a:avLst/>
          </a:prstGeom>
          <a:solidFill>
            <a:srgbClr val="F6F2EA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F77656-6839-4B10-88C6-FA7E731BE8F4}"/>
              </a:ext>
            </a:extLst>
          </p:cNvPr>
          <p:cNvSpPr>
            <a:spLocks noGrp="1"/>
          </p:cNvSpPr>
          <p:nvPr/>
        </p:nvSpPr>
        <p:spPr>
          <a:xfrm>
            <a:off x="7658100" y="19812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63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45060F-7460-4889-BD8E-184582FFB3A1}"/>
              </a:ext>
            </a:extLst>
          </p:cNvPr>
          <p:cNvSpPr>
            <a:spLocks noGrp="1"/>
          </p:cNvSpPr>
          <p:nvPr/>
        </p:nvSpPr>
        <p:spPr>
          <a:xfrm>
            <a:off x="7658100" y="2371725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low-buffer events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AAC7FE-49CA-4D44-9F1F-BB49CBE11A12}"/>
              </a:ext>
            </a:extLst>
          </p:cNvPr>
          <p:cNvSpPr>
            <a:spLocks noGrp="1"/>
          </p:cNvSpPr>
          <p:nvPr/>
        </p:nvSpPr>
        <p:spPr>
          <a:xfrm>
            <a:off x="9220200" y="1885950"/>
            <a:ext cx="1581150" cy="876300"/>
          </a:xfrm>
          <a:prstGeom prst="rect">
            <a:avLst/>
          </a:prstGeom>
          <a:solidFill>
            <a:srgbClr val="F6F2EA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3F7039-9EDE-47E2-8F7B-A0AF633369FE}"/>
              </a:ext>
            </a:extLst>
          </p:cNvPr>
          <p:cNvSpPr>
            <a:spLocks noGrp="1"/>
          </p:cNvSpPr>
          <p:nvPr/>
        </p:nvSpPr>
        <p:spPr>
          <a:xfrm>
            <a:off x="9391650" y="19812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0.882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E328A5-310C-4D10-BA3B-34F8FAA35E4A}"/>
              </a:ext>
            </a:extLst>
          </p:cNvPr>
          <p:cNvSpPr>
            <a:spLocks noGrp="1"/>
          </p:cNvSpPr>
          <p:nvPr/>
        </p:nvSpPr>
        <p:spPr>
          <a:xfrm>
            <a:off x="9391650" y="2371725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avg confidence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150" y="3314700"/>
            <a:ext cx="4762500" cy="19050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19850" y="3314700"/>
            <a:ext cx="4762500" cy="1905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20EA413-7C19-485B-9549-F207DE2E3EB1}"/>
              </a:ext>
            </a:extLst>
          </p:cNvPr>
          <p:cNvSpPr>
            <a:spLocks noGrp="1"/>
          </p:cNvSpPr>
          <p:nvPr/>
        </p:nvSpPr>
        <p:spPr>
          <a:xfrm>
            <a:off x="819150" y="5467350"/>
            <a:ext cx="885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Quality selection changes as measured throughput varies, while AI confidence remains high on average.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C4416B-A0CB-4FC2-AAD3-C5E45E98E393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results/qos_summary.csv, results/bandwidth_vs_time.png, results/bitrate_vs_time.png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6610B9-5CD6-4728-B43F-0A67EE5B4D3A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4010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A80F1E9-42CB-4179-A1BA-2AC5F33F0B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3048F0B3-5D4D-485D-91FB-271FD7A4979D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FFD1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2ED087F0-3FCB-488B-866F-9202A71D92A7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DEMO SCRIPT + NEXT STEPS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29F36-E043-44C5-BD35-41C2FB65A724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The project is ready to demonstrate as a controlled QoS experiment.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ED8DC2-2C3B-48E0-AE57-255F1CC7B1A9}"/>
              </a:ext>
            </a:extLst>
          </p:cNvPr>
          <p:cNvSpPr>
            <a:spLocks noGrp="1"/>
          </p:cNvSpPr>
          <p:nvPr/>
        </p:nvSpPr>
        <p:spPr>
          <a:xfrm>
            <a:off x="781050" y="2209800"/>
            <a:ext cx="323850" cy="323850"/>
          </a:xfrm>
          <a:prstGeom prst="rect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D5C73D-8FC0-43A7-9840-7602CBB13623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D40070-BA22-4DF0-9B0F-9E5CFFC23A94}"/>
              </a:ext>
            </a:extLst>
          </p:cNvPr>
          <p:cNvSpPr>
            <a:spLocks noGrp="1"/>
          </p:cNvSpPr>
          <p:nvPr/>
        </p:nvSpPr>
        <p:spPr>
          <a:xfrm>
            <a:off x="1257300" y="22479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Start Flask server and open the dashboard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ABFA58-D6C8-43B8-9AAD-AB05B7F008D7}"/>
              </a:ext>
            </a:extLst>
          </p:cNvPr>
          <p:cNvSpPr>
            <a:spLocks noGrp="1"/>
          </p:cNvSpPr>
          <p:nvPr/>
        </p:nvSpPr>
        <p:spPr>
          <a:xfrm>
            <a:off x="781050" y="2724150"/>
            <a:ext cx="323850" cy="323850"/>
          </a:xfrm>
          <a:prstGeom prst="rect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EF5880-BFCF-4ACB-B43B-4D44D5DADAB7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4754AE-22EF-4354-983A-CD042CF02A06}"/>
              </a:ext>
            </a:extLst>
          </p:cNvPr>
          <p:cNvSpPr>
            <a:spLocks noGrp="1"/>
          </p:cNvSpPr>
          <p:nvPr/>
        </p:nvSpPr>
        <p:spPr>
          <a:xfrm>
            <a:off x="1257300" y="27622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Play the generated DASH stream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78EFA1-75CD-4DB7-A443-61012CB3A2F6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323850" cy="323850"/>
          </a:xfrm>
          <a:prstGeom prst="rect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A4476C-ECF3-46B1-BE7B-D345EE467EE2}"/>
              </a:ext>
            </a:extLst>
          </p:cNvPr>
          <p:cNvSpPr>
            <a:spLocks noGrp="1"/>
          </p:cNvSpPr>
          <p:nvPr/>
        </p:nvSpPr>
        <p:spPr>
          <a:xfrm>
            <a:off x="781050" y="32956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2E3CC-1733-45DC-9FA7-B40585C36FD5}"/>
              </a:ext>
            </a:extLst>
          </p:cNvPr>
          <p:cNvSpPr>
            <a:spLocks noGrp="1"/>
          </p:cNvSpPr>
          <p:nvPr/>
        </p:nvSpPr>
        <p:spPr>
          <a:xfrm>
            <a:off x="1257300" y="32766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Switch network profile from stable to poor/lossy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DA529A-41E2-4807-BCC0-F24C8536159C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323850" cy="323850"/>
          </a:xfrm>
          <a:prstGeom prst="rect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915E13-CD86-4945-A2C2-93F259AF6E06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A9EFDB-CDA6-4FCB-B960-96B47DAE9701}"/>
              </a:ext>
            </a:extLst>
          </p:cNvPr>
          <p:cNvSpPr>
            <a:spLocks noGrp="1"/>
          </p:cNvSpPr>
          <p:nvPr/>
        </p:nvSpPr>
        <p:spPr>
          <a:xfrm>
            <a:off x="1257300" y="37909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Show AI lowering bitrate before buffer collapse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8E8FA6-E46A-4794-8B71-D7E81A8C8CA1}"/>
              </a:ext>
            </a:extLst>
          </p:cNvPr>
          <p:cNvSpPr>
            <a:spLocks noGrp="1"/>
          </p:cNvSpPr>
          <p:nvPr/>
        </p:nvSpPr>
        <p:spPr>
          <a:xfrm>
            <a:off x="781050" y="4267200"/>
            <a:ext cx="323850" cy="323850"/>
          </a:xfrm>
          <a:prstGeom prst="rect">
            <a:avLst/>
          </a:prstGeom>
          <a:solidFill>
            <a:srgbClr val="FFD1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08C6B4-D6F9-40AA-AC34-D9FDBD81FCA7}"/>
              </a:ext>
            </a:extLst>
          </p:cNvPr>
          <p:cNvSpPr>
            <a:spLocks noGrp="1"/>
          </p:cNvSpPr>
          <p:nvPr/>
        </p:nvSpPr>
        <p:spPr>
          <a:xfrm>
            <a:off x="781050" y="43243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61389C-2A95-4F51-9D30-03F3F625E24F}"/>
              </a:ext>
            </a:extLst>
          </p:cNvPr>
          <p:cNvSpPr>
            <a:spLocks noGrp="1"/>
          </p:cNvSpPr>
          <p:nvPr/>
        </p:nvSpPr>
        <p:spPr>
          <a:xfrm>
            <a:off x="1257300" y="430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Disable AI to compare normal dash.js ABR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060E05-06B4-47FF-A10A-999C2CDADA62}"/>
              </a:ext>
            </a:extLst>
          </p:cNvPr>
          <p:cNvSpPr>
            <a:spLocks noGrp="1"/>
          </p:cNvSpPr>
          <p:nvPr/>
        </p:nvSpPr>
        <p:spPr>
          <a:xfrm>
            <a:off x="781050" y="4781550"/>
            <a:ext cx="323850" cy="323850"/>
          </a:xfrm>
          <a:prstGeom prst="rect">
            <a:avLst/>
          </a:prstGeom>
          <a:solidFill>
            <a:srgbClr val="FFD1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1B9C52-A285-4766-9A82-EEEA97E9D25D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D374B3-B31D-4AE6-A3C9-83B82D197F6D}"/>
              </a:ext>
            </a:extLst>
          </p:cNvPr>
          <p:cNvSpPr>
            <a:spLocks noGrp="1"/>
          </p:cNvSpPr>
          <p:nvPr/>
        </p:nvSpPr>
        <p:spPr>
          <a:xfrm>
            <a:off x="1257300" y="48196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Run analyze_results.py to produce graphs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C673D3-15BB-4B9C-8BA9-27F727A4BF91}"/>
              </a:ext>
            </a:extLst>
          </p:cNvPr>
          <p:cNvSpPr>
            <a:spLocks noGrp="1"/>
          </p:cNvSpPr>
          <p:nvPr/>
        </p:nvSpPr>
        <p:spPr>
          <a:xfrm>
            <a:off x="7239000" y="2209800"/>
            <a:ext cx="3429000" cy="2400300"/>
          </a:xfrm>
          <a:prstGeom prst="rect">
            <a:avLst/>
          </a:prstGeom>
          <a:solidFill>
            <a:srgbClr val="102236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CDF382-E799-400B-8E8F-A8504C449DD5}"/>
              </a:ext>
            </a:extLst>
          </p:cNvPr>
          <p:cNvSpPr>
            <a:spLocks noGrp="1"/>
          </p:cNvSpPr>
          <p:nvPr/>
        </p:nvSpPr>
        <p:spPr>
          <a:xfrm>
            <a:off x="7543800" y="249555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Future improvements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198CD3-54E4-472D-9EFB-354A9E9B0E19}"/>
              </a:ext>
            </a:extLst>
          </p:cNvPr>
          <p:cNvSpPr>
            <a:spLocks noGrp="1"/>
          </p:cNvSpPr>
          <p:nvPr/>
        </p:nvSpPr>
        <p:spPr>
          <a:xfrm>
            <a:off x="7543800" y="3028950"/>
            <a:ext cx="27622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Train on real network traces</a:t>
            </a:r>
          </a:p>
          <a:p>
            <a:pPr algn="l">
              <a:defRPr sz="13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Add VMAF/SSIM quality scoring</a:t>
            </a:r>
          </a:p>
          <a:p>
            <a:pPr algn="l">
              <a:defRPr sz="13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Compare ML vs BOLA/throughput ABR</a:t>
            </a:r>
          </a:p>
          <a:p>
            <a:pPr algn="l">
              <a:defRPr sz="13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Deploy local dash.js fallback</a:t>
            </a:r>
          </a:p>
          <a:p>
            <a:pPr algn="l">
              <a:defRPr sz="13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Export richer per-profile reports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08EB8-3B18-40CE-9ACC-9EF71F13F35C}"/>
              </a:ext>
            </a:extLst>
          </p:cNvPr>
          <p:cNvSpPr>
            <a:spLocks noGrp="1"/>
          </p:cNvSpPr>
          <p:nvPr/>
        </p:nvSpPr>
        <p:spPr>
          <a:xfrm>
            <a:off x="781050" y="5638800"/>
            <a:ext cx="8763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Core achievement: real video packaging, real playback, live QoS telemetry, AI quality prediction, and result generation are connected end to end.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525ACD-B441-452F-A6AD-DE7B75312D05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README.md demo script and project implementation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109A3C-7385-422A-A942-BF1D79FF6869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79112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816</Words>
  <Application>Microsoft Office PowerPoint</Application>
  <DocSecurity>0</DocSecurity>
  <PresentationFormat>Widescreen</PresentationFormat>
  <Paragraphs>161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Udit Singh</cp:lastModifiedBy>
  <cp:revision>1</cp:revision>
  <dcterms:created xsi:type="dcterms:W3CDTF">2026-06-11T13:29:45Z</dcterms:created>
  <dcterms:modified xsi:type="dcterms:W3CDTF">2026-06-11T13:36:58Z</dcterms:modified>
</cp:coreProperties>
</file>